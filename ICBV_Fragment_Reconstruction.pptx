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D1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3502152" cy="6858000"/>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41080" y="0"/>
            <a:ext cx="54864" cy="685800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8595360" cy="10972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548640"/>
            <a:ext cx="8046720" cy="1005840"/>
          </a:xfrm>
          <a:prstGeom prst="rect">
            <a:avLst/>
          </a:prstGeom>
          <a:noFill/>
        </p:spPr>
        <p:txBody>
          <a:bodyPr wrap="square">
            <a:spAutoFit/>
          </a:bodyPr>
          <a:lstStyle/>
          <a:p>
            <a:pPr algn="l"/>
            <a:r>
              <a:rPr sz="5200" b="1" i="0">
                <a:solidFill>
                  <a:srgbClr val="B85042"/>
                </a:solidFill>
                <a:latin typeface="Calibri"/>
              </a:rPr>
              <a:t>Archaeological</a:t>
            </a:r>
          </a:p>
        </p:txBody>
      </p:sp>
      <p:sp>
        <p:nvSpPr>
          <p:cNvPr id="7" name="TextBox 6"/>
          <p:cNvSpPr txBox="1"/>
          <p:nvPr/>
        </p:nvSpPr>
        <p:spPr>
          <a:xfrm>
            <a:off x="457200" y="1463040"/>
            <a:ext cx="8046720" cy="914400"/>
          </a:xfrm>
          <a:prstGeom prst="rect">
            <a:avLst/>
          </a:prstGeom>
          <a:noFill/>
        </p:spPr>
        <p:txBody>
          <a:bodyPr wrap="square">
            <a:spAutoFit/>
          </a:bodyPr>
          <a:lstStyle/>
          <a:p>
            <a:pPr algn="l"/>
            <a:r>
              <a:rPr sz="5200" b="1" i="0">
                <a:solidFill>
                  <a:srgbClr val="FAF7F2"/>
                </a:solidFill>
                <a:latin typeface="Calibri"/>
              </a:rPr>
              <a:t>Fragment Reconstruction</a:t>
            </a:r>
          </a:p>
        </p:txBody>
      </p:sp>
      <p:sp>
        <p:nvSpPr>
          <p:cNvPr id="8" name="Rectangle 7"/>
          <p:cNvSpPr/>
          <p:nvPr/>
        </p:nvSpPr>
        <p:spPr>
          <a:xfrm>
            <a:off x="457200" y="2514600"/>
            <a:ext cx="4572000" cy="4572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697480"/>
            <a:ext cx="7772400" cy="914400"/>
          </a:xfrm>
          <a:prstGeom prst="rect">
            <a:avLst/>
          </a:prstGeom>
          <a:noFill/>
        </p:spPr>
        <p:txBody>
          <a:bodyPr wrap="square">
            <a:spAutoFit/>
          </a:bodyPr>
          <a:lstStyle/>
          <a:p>
            <a:pPr algn="l"/>
            <a:r>
              <a:rPr sz="2200" b="0" i="0">
                <a:solidFill>
                  <a:srgbClr val="9E866E"/>
                </a:solidFill>
                <a:latin typeface="Calibri"/>
              </a:rPr>
              <a:t>An Automatic Computer Vision Pipeline
for Reassembling Broken Artifacts</a:t>
            </a:r>
          </a:p>
        </p:txBody>
      </p:sp>
      <p:sp>
        <p:nvSpPr>
          <p:cNvPr id="10" name="TextBox 9"/>
          <p:cNvSpPr txBox="1"/>
          <p:nvPr/>
        </p:nvSpPr>
        <p:spPr>
          <a:xfrm>
            <a:off x="457200" y="3931920"/>
            <a:ext cx="7772400" cy="457200"/>
          </a:xfrm>
          <a:prstGeom prst="rect">
            <a:avLst/>
          </a:prstGeom>
          <a:noFill/>
        </p:spPr>
        <p:txBody>
          <a:bodyPr wrap="square">
            <a:spAutoFit/>
          </a:bodyPr>
          <a:lstStyle/>
          <a:p>
            <a:pPr algn="l"/>
            <a:r>
              <a:rPr sz="1600" b="0" i="0">
                <a:solidFill>
                  <a:srgbClr val="A7BEAE"/>
                </a:solidFill>
                <a:latin typeface="Calibri"/>
              </a:rPr>
              <a:t>Introduction to Computational and Biological Vision (ICBV)</a:t>
            </a:r>
          </a:p>
        </p:txBody>
      </p:sp>
      <p:sp>
        <p:nvSpPr>
          <p:cNvPr id="11" name="TextBox 10"/>
          <p:cNvSpPr txBox="1"/>
          <p:nvPr/>
        </p:nvSpPr>
        <p:spPr>
          <a:xfrm>
            <a:off x="457200" y="4389120"/>
            <a:ext cx="7772400" cy="457200"/>
          </a:xfrm>
          <a:prstGeom prst="rect">
            <a:avLst/>
          </a:prstGeom>
          <a:noFill/>
        </p:spPr>
        <p:txBody>
          <a:bodyPr wrap="square">
            <a:spAutoFit/>
          </a:bodyPr>
          <a:lstStyle/>
          <a:p>
            <a:pPr algn="l"/>
            <a:r>
              <a:rPr sz="1600" b="0" i="0">
                <a:solidFill>
                  <a:srgbClr val="9E866E"/>
                </a:solidFill>
                <a:latin typeface="Calibri"/>
              </a:rPr>
              <a:t>Final Project</a:t>
            </a:r>
          </a:p>
        </p:txBody>
      </p:sp>
      <p:sp>
        <p:nvSpPr>
          <p:cNvPr id="12" name="TextBox 11"/>
          <p:cNvSpPr txBox="1"/>
          <p:nvPr/>
        </p:nvSpPr>
        <p:spPr>
          <a:xfrm>
            <a:off x="8869680" y="914400"/>
            <a:ext cx="3017520" cy="457200"/>
          </a:xfrm>
          <a:prstGeom prst="rect">
            <a:avLst/>
          </a:prstGeom>
          <a:noFill/>
        </p:spPr>
        <p:txBody>
          <a:bodyPr wrap="square">
            <a:spAutoFit/>
          </a:bodyPr>
          <a:lstStyle/>
          <a:p>
            <a:pPr algn="l"/>
            <a:r>
              <a:rPr sz="1300" b="1" i="0">
                <a:solidFill>
                  <a:srgbClr val="B85042"/>
                </a:solidFill>
                <a:latin typeface="Calibri"/>
              </a:rPr>
              <a:t>Pipeline</a:t>
            </a:r>
          </a:p>
        </p:txBody>
      </p:sp>
      <p:sp>
        <p:nvSpPr>
          <p:cNvPr id="13" name="Rectangle 12"/>
          <p:cNvSpPr/>
          <p:nvPr/>
        </p:nvSpPr>
        <p:spPr>
          <a:xfrm>
            <a:off x="8823960" y="1417320"/>
            <a:ext cx="3154680" cy="475488"/>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481328"/>
            <a:ext cx="2834640" cy="347472"/>
          </a:xfrm>
          <a:prstGeom prst="rect">
            <a:avLst/>
          </a:prstGeom>
          <a:noFill/>
        </p:spPr>
        <p:txBody>
          <a:bodyPr wrap="square">
            <a:spAutoFit/>
          </a:bodyPr>
          <a:lstStyle/>
          <a:p>
            <a:pPr algn="l"/>
            <a:r>
              <a:rPr sz="1300" b="0" i="0">
                <a:solidFill>
                  <a:srgbClr val="9E866E"/>
                </a:solidFill>
                <a:latin typeface="Calibri"/>
              </a:rPr>
              <a:t>1  Preprocessing</a:t>
            </a:r>
          </a:p>
        </p:txBody>
      </p:sp>
      <p:sp>
        <p:nvSpPr>
          <p:cNvPr id="15" name="Rectangle 14"/>
          <p:cNvSpPr/>
          <p:nvPr/>
        </p:nvSpPr>
        <p:spPr>
          <a:xfrm>
            <a:off x="8823960" y="1984248"/>
            <a:ext cx="3154680" cy="475488"/>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2048255"/>
            <a:ext cx="2834640" cy="347472"/>
          </a:xfrm>
          <a:prstGeom prst="rect">
            <a:avLst/>
          </a:prstGeom>
          <a:noFill/>
        </p:spPr>
        <p:txBody>
          <a:bodyPr wrap="square">
            <a:spAutoFit/>
          </a:bodyPr>
          <a:lstStyle/>
          <a:p>
            <a:pPr algn="l"/>
            <a:r>
              <a:rPr sz="1300" b="0" i="0">
                <a:solidFill>
                  <a:srgbClr val="9E866E"/>
                </a:solidFill>
                <a:latin typeface="Calibri"/>
              </a:rPr>
              <a:t>2  Shape Encoding</a:t>
            </a:r>
          </a:p>
        </p:txBody>
      </p:sp>
      <p:sp>
        <p:nvSpPr>
          <p:cNvPr id="17" name="Rectangle 16"/>
          <p:cNvSpPr/>
          <p:nvPr/>
        </p:nvSpPr>
        <p:spPr>
          <a:xfrm>
            <a:off x="8823960" y="2551176"/>
            <a:ext cx="3154680" cy="475488"/>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2615184"/>
            <a:ext cx="2834640" cy="347472"/>
          </a:xfrm>
          <a:prstGeom prst="rect">
            <a:avLst/>
          </a:prstGeom>
          <a:noFill/>
        </p:spPr>
        <p:txBody>
          <a:bodyPr wrap="square">
            <a:spAutoFit/>
          </a:bodyPr>
          <a:lstStyle/>
          <a:p>
            <a:pPr algn="l"/>
            <a:r>
              <a:rPr sz="1300" b="0" i="0">
                <a:solidFill>
                  <a:srgbClr val="9E866E"/>
                </a:solidFill>
                <a:latin typeface="Calibri"/>
              </a:rPr>
              <a:t>3  Edge Compatibility</a:t>
            </a:r>
          </a:p>
        </p:txBody>
      </p:sp>
      <p:sp>
        <p:nvSpPr>
          <p:cNvPr id="19" name="Rectangle 18"/>
          <p:cNvSpPr/>
          <p:nvPr/>
        </p:nvSpPr>
        <p:spPr>
          <a:xfrm>
            <a:off x="8823960" y="3118104"/>
            <a:ext cx="3154680" cy="475488"/>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3182112"/>
            <a:ext cx="2834640" cy="347472"/>
          </a:xfrm>
          <a:prstGeom prst="rect">
            <a:avLst/>
          </a:prstGeom>
          <a:noFill/>
        </p:spPr>
        <p:txBody>
          <a:bodyPr wrap="square">
            <a:spAutoFit/>
          </a:bodyPr>
          <a:lstStyle/>
          <a:p>
            <a:pPr algn="l"/>
            <a:r>
              <a:rPr sz="1300" b="0" i="0">
                <a:solidFill>
                  <a:srgbClr val="9E866E"/>
                </a:solidFill>
                <a:latin typeface="Calibri"/>
              </a:rPr>
              <a:t>4  Color Pre-Check</a:t>
            </a:r>
          </a:p>
        </p:txBody>
      </p:sp>
      <p:sp>
        <p:nvSpPr>
          <p:cNvPr id="21" name="Rectangle 20"/>
          <p:cNvSpPr/>
          <p:nvPr/>
        </p:nvSpPr>
        <p:spPr>
          <a:xfrm>
            <a:off x="8823960" y="3685032"/>
            <a:ext cx="3154680" cy="475488"/>
          </a:xfrm>
          <a:prstGeom prst="rect">
            <a:avLst/>
          </a:prstGeom>
          <a:solidFill>
            <a:srgbClr val="4A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0" y="3749040"/>
            <a:ext cx="2834640" cy="347472"/>
          </a:xfrm>
          <a:prstGeom prst="rect">
            <a:avLst/>
          </a:prstGeom>
          <a:noFill/>
        </p:spPr>
        <p:txBody>
          <a:bodyPr wrap="square">
            <a:spAutoFit/>
          </a:bodyPr>
          <a:lstStyle/>
          <a:p>
            <a:pPr algn="l"/>
            <a:r>
              <a:rPr sz="1300" b="0" i="0">
                <a:solidFill>
                  <a:srgbClr val="9E866E"/>
                </a:solidFill>
                <a:latin typeface="Calibri"/>
              </a:rPr>
              <a:t>5  Relaxation Labeling</a:t>
            </a:r>
          </a:p>
        </p:txBody>
      </p:sp>
      <p:sp>
        <p:nvSpPr>
          <p:cNvPr id="23" name="Rectangle 22"/>
          <p:cNvSpPr/>
          <p:nvPr/>
        </p:nvSpPr>
        <p:spPr>
          <a:xfrm>
            <a:off x="8823960" y="4343400"/>
            <a:ext cx="3154680" cy="36576"/>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4462272"/>
            <a:ext cx="3017520" cy="384048"/>
          </a:xfrm>
          <a:prstGeom prst="rect">
            <a:avLst/>
          </a:prstGeom>
          <a:noFill/>
        </p:spPr>
        <p:txBody>
          <a:bodyPr wrap="square">
            <a:spAutoFit/>
          </a:bodyPr>
          <a:lstStyle/>
          <a:p>
            <a:pPr algn="l"/>
            <a:r>
              <a:rPr sz="1300" b="1" i="0">
                <a:solidFill>
                  <a:srgbClr val="A7BEAE"/>
                </a:solidFill>
                <a:latin typeface="Calibri"/>
              </a:rPr>
              <a:t>9 / 9 positive  ✓</a:t>
            </a:r>
          </a:p>
        </p:txBody>
      </p:sp>
      <p:sp>
        <p:nvSpPr>
          <p:cNvPr id="25" name="TextBox 24"/>
          <p:cNvSpPr txBox="1"/>
          <p:nvPr/>
        </p:nvSpPr>
        <p:spPr>
          <a:xfrm>
            <a:off x="8869680" y="4846320"/>
            <a:ext cx="3017520" cy="320040"/>
          </a:xfrm>
          <a:prstGeom prst="rect">
            <a:avLst/>
          </a:prstGeom>
          <a:noFill/>
        </p:spPr>
        <p:txBody>
          <a:bodyPr wrap="square">
            <a:spAutoFit/>
          </a:bodyPr>
          <a:lstStyle/>
          <a:p>
            <a:pPr algn="l"/>
            <a:r>
              <a:rPr sz="1200" b="0" i="0">
                <a:solidFill>
                  <a:srgbClr val="9E866E"/>
                </a:solidFill>
                <a:latin typeface="Calibri"/>
              </a:rPr>
              <a:t>100% detection rate</a:t>
            </a:r>
          </a:p>
        </p:txBody>
      </p:sp>
      <p:sp>
        <p:nvSpPr>
          <p:cNvPr id="26" name="Rectangle 25"/>
          <p:cNvSpPr/>
          <p:nvPr/>
        </p:nvSpPr>
        <p:spPr>
          <a:xfrm>
            <a:off x="0" y="6492240"/>
            <a:ext cx="8595360"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3657600" cy="292608"/>
          </a:xfrm>
          <a:prstGeom prst="rect">
            <a:avLst/>
          </a:prstGeom>
          <a:noFill/>
        </p:spPr>
        <p:txBody>
          <a:bodyPr wrap="square">
            <a:spAutoFit/>
          </a:bodyPr>
          <a:lstStyle/>
          <a:p>
            <a:pPr algn="l"/>
            <a:r>
              <a:rPr sz="1100" b="0" i="0">
                <a:solidFill>
                  <a:srgbClr val="9E866E"/>
                </a:solidFill>
                <a:latin typeface="Calibri"/>
              </a:rPr>
              <a:t>Shahaf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The Problem</a:t>
            </a:r>
          </a:p>
        </p:txBody>
      </p:sp>
      <p:sp>
        <p:nvSpPr>
          <p:cNvPr id="5" name="TextBox 4"/>
          <p:cNvSpPr txBox="1"/>
          <p:nvPr/>
        </p:nvSpPr>
        <p:spPr>
          <a:xfrm>
            <a:off x="365760" y="960120"/>
            <a:ext cx="7772400" cy="548640"/>
          </a:xfrm>
          <a:prstGeom prst="rect">
            <a:avLst/>
          </a:prstGeom>
          <a:noFill/>
        </p:spPr>
        <p:txBody>
          <a:bodyPr wrap="square">
            <a:spAutoFit/>
          </a:bodyPr>
          <a:lstStyle/>
          <a:p>
            <a:pPr algn="l"/>
            <a:r>
              <a:rPr sz="1800" b="1" i="0">
                <a:solidFill>
                  <a:srgbClr val="5C3D1E"/>
                </a:solidFill>
                <a:latin typeface="Calibri"/>
              </a:rPr>
              <a:t>Broken artifacts are everywhere — and reassembling them is extremely hard.</a:t>
            </a:r>
          </a:p>
        </p:txBody>
      </p:sp>
      <p:sp>
        <p:nvSpPr>
          <p:cNvPr id="6" name="TextBox 5"/>
          <p:cNvSpPr txBox="1"/>
          <p:nvPr/>
        </p:nvSpPr>
        <p:spPr>
          <a:xfrm>
            <a:off x="365760" y="1645920"/>
            <a:ext cx="5669280" cy="2743200"/>
          </a:xfrm>
          <a:prstGeom prst="rect">
            <a:avLst/>
          </a:prstGeom>
          <a:noFill/>
        </p:spPr>
        <p:txBody>
          <a:bodyPr wrap="square">
            <a:spAutoFit/>
          </a:bodyPr>
          <a:lstStyle/>
          <a:p>
            <a:pPr marL="228600" indent="-228600">
              <a:spcAft>
                <a:spcPts val="400"/>
              </a:spcAft>
              <a:buChar char="•"/>
            </a:pPr>
            <a:r>
              <a:rPr sz="1600" b="0">
                <a:solidFill>
                  <a:srgbClr val="5C3D1E"/>
                </a:solidFill>
                <a:latin typeface="Calibri"/>
              </a:rPr>
              <a:t>Excavations uncover hundreds of broken sherds from a single object.</a:t>
            </a:r>
          </a:p>
          <a:p>
            <a:pPr marL="228600" indent="-228600">
              <a:spcAft>
                <a:spcPts val="400"/>
              </a:spcAft>
              <a:buChar char="•"/>
            </a:pPr>
            <a:r>
              <a:rPr sz="1600" b="0">
                <a:solidFill>
                  <a:srgbClr val="5C3D1E"/>
                </a:solidFill>
                <a:latin typeface="Calibri"/>
              </a:rPr>
              <a:t>A conservator may spend weeks trying to find matching pieces by hand.</a:t>
            </a:r>
          </a:p>
          <a:p>
            <a:pPr marL="228600" indent="-228600">
              <a:spcAft>
                <a:spcPts val="400"/>
              </a:spcAft>
              <a:buChar char="•"/>
            </a:pPr>
            <a:r>
              <a:rPr sz="1600" b="0">
                <a:solidFill>
                  <a:srgbClr val="5C3D1E"/>
                </a:solidFill>
                <a:latin typeface="Calibri"/>
              </a:rPr>
              <a:t>The search space grows exponentially: with N fragments, there are N! possible arrangements.</a:t>
            </a:r>
          </a:p>
          <a:p>
            <a:pPr marL="228600" indent="-228600">
              <a:spcAft>
                <a:spcPts val="400"/>
              </a:spcAft>
              <a:buChar char="•"/>
            </a:pPr>
            <a:r>
              <a:rPr sz="1600" b="0">
                <a:solidFill>
                  <a:srgbClr val="5C3D1E"/>
                </a:solidFill>
                <a:latin typeface="Calibri"/>
              </a:rPr>
              <a:t>Manual work is slow, expensive, and error-prone.</a:t>
            </a:r>
          </a:p>
        </p:txBody>
      </p:sp>
      <p:sp>
        <p:nvSpPr>
          <p:cNvPr id="7" name="Rectangle 6"/>
          <p:cNvSpPr/>
          <p:nvPr/>
        </p:nvSpPr>
        <p:spPr>
          <a:xfrm>
            <a:off x="6400800" y="1463040"/>
            <a:ext cx="5303520" cy="32004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0" y="1463040"/>
            <a:ext cx="5303520" cy="41148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90472"/>
            <a:ext cx="5120640" cy="365760"/>
          </a:xfrm>
          <a:prstGeom prst="rect">
            <a:avLst/>
          </a:prstGeom>
          <a:noFill/>
        </p:spPr>
        <p:txBody>
          <a:bodyPr wrap="square">
            <a:spAutoFit/>
          </a:bodyPr>
          <a:lstStyle/>
          <a:p>
            <a:pPr algn="l"/>
            <a:r>
              <a:rPr sz="1400" b="1" i="0">
                <a:solidFill>
                  <a:srgbClr val="FAF7F2"/>
                </a:solidFill>
                <a:latin typeface="Calibri"/>
              </a:rPr>
              <a:t>What We Want to Automate</a:t>
            </a:r>
          </a:p>
        </p:txBody>
      </p:sp>
      <p:sp>
        <p:nvSpPr>
          <p:cNvPr id="10" name="TextBox 9"/>
          <p:cNvSpPr txBox="1"/>
          <p:nvPr/>
        </p:nvSpPr>
        <p:spPr>
          <a:xfrm>
            <a:off x="6583680" y="1965960"/>
            <a:ext cx="4937760" cy="1828800"/>
          </a:xfrm>
          <a:prstGeom prst="rect">
            <a:avLst/>
          </a:prstGeom>
          <a:noFill/>
        </p:spPr>
        <p:txBody>
          <a:bodyPr wrap="square">
            <a:spAutoFit/>
          </a:bodyPr>
          <a:lstStyle/>
          <a:p>
            <a:pPr marL="228600" indent="-228600">
              <a:spcAft>
                <a:spcPts val="400"/>
              </a:spcAft>
              <a:buChar char="•"/>
            </a:pPr>
            <a:r>
              <a:rPr sz="1500" b="0">
                <a:solidFill>
                  <a:srgbClr val="5C3D1E"/>
                </a:solidFill>
                <a:latin typeface="Calibri"/>
              </a:rPr>
              <a:t>Given: photos of individual fragments</a:t>
            </a:r>
          </a:p>
          <a:p>
            <a:pPr marL="228600" indent="-228600">
              <a:spcAft>
                <a:spcPts val="400"/>
              </a:spcAft>
              <a:buChar char="•"/>
            </a:pPr>
            <a:r>
              <a:rPr sz="1500" b="0">
                <a:solidFill>
                  <a:srgbClr val="5C3D1E"/>
                </a:solidFill>
                <a:latin typeface="Calibri"/>
              </a:rPr>
              <a:t>Find: which edges fit together</a:t>
            </a:r>
          </a:p>
          <a:p>
            <a:pPr marL="228600" indent="-228600">
              <a:spcAft>
                <a:spcPts val="400"/>
              </a:spcAft>
              <a:buChar char="•"/>
            </a:pPr>
            <a:r>
              <a:rPr sz="1500" b="0">
                <a:solidFill>
                  <a:srgbClr val="5C3D1E"/>
                </a:solidFill>
                <a:latin typeface="Calibri"/>
              </a:rPr>
              <a:t>Propose: how the artifact looked</a:t>
            </a:r>
          </a:p>
        </p:txBody>
      </p:sp>
      <p:sp>
        <p:nvSpPr>
          <p:cNvPr id="11" name="Rectangle 10"/>
          <p:cNvSpPr/>
          <p:nvPr/>
        </p:nvSpPr>
        <p:spPr>
          <a:xfrm>
            <a:off x="365760" y="4663440"/>
            <a:ext cx="3291840" cy="137160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709160"/>
            <a:ext cx="3108960" cy="685800"/>
          </a:xfrm>
          <a:prstGeom prst="rect">
            <a:avLst/>
          </a:prstGeom>
          <a:noFill/>
        </p:spPr>
        <p:txBody>
          <a:bodyPr wrap="square">
            <a:spAutoFit/>
          </a:bodyPr>
          <a:lstStyle/>
          <a:p>
            <a:pPr algn="ctr"/>
            <a:r>
              <a:rPr sz="4200" b="1" i="0">
                <a:solidFill>
                  <a:srgbClr val="FAF7F2"/>
                </a:solidFill>
                <a:latin typeface="Calibri"/>
              </a:rPr>
              <a:t>N!</a:t>
            </a:r>
          </a:p>
        </p:txBody>
      </p:sp>
      <p:sp>
        <p:nvSpPr>
          <p:cNvPr id="13" name="TextBox 12"/>
          <p:cNvSpPr txBox="1"/>
          <p:nvPr/>
        </p:nvSpPr>
        <p:spPr>
          <a:xfrm>
            <a:off x="457200" y="5349240"/>
            <a:ext cx="3108960" cy="640080"/>
          </a:xfrm>
          <a:prstGeom prst="rect">
            <a:avLst/>
          </a:prstGeom>
          <a:noFill/>
        </p:spPr>
        <p:txBody>
          <a:bodyPr wrap="square">
            <a:spAutoFit/>
          </a:bodyPr>
          <a:lstStyle/>
          <a:p>
            <a:pPr algn="ctr"/>
            <a:r>
              <a:rPr sz="1300" b="0" i="0">
                <a:solidFill>
                  <a:srgbClr val="FAF7F2"/>
                </a:solidFill>
                <a:latin typeface="Calibri"/>
              </a:rPr>
              <a:t>possible arrangements for N fragments</a:t>
            </a:r>
          </a:p>
        </p:txBody>
      </p:sp>
      <p:sp>
        <p:nvSpPr>
          <p:cNvPr id="14" name="Rectangle 13"/>
          <p:cNvSpPr/>
          <p:nvPr/>
        </p:nvSpPr>
        <p:spPr>
          <a:xfrm>
            <a:off x="3931920" y="4663440"/>
            <a:ext cx="3474720" cy="13716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4709160"/>
            <a:ext cx="3291840" cy="685800"/>
          </a:xfrm>
          <a:prstGeom prst="rect">
            <a:avLst/>
          </a:prstGeom>
          <a:noFill/>
        </p:spPr>
        <p:txBody>
          <a:bodyPr wrap="square">
            <a:spAutoFit/>
          </a:bodyPr>
          <a:lstStyle/>
          <a:p>
            <a:pPr algn="ctr"/>
            <a:r>
              <a:rPr sz="3800" b="1" i="0">
                <a:solidFill>
                  <a:srgbClr val="F5EDD8"/>
                </a:solidFill>
                <a:latin typeface="Calibri"/>
              </a:rPr>
              <a:t>Weeks</a:t>
            </a:r>
          </a:p>
        </p:txBody>
      </p:sp>
      <p:sp>
        <p:nvSpPr>
          <p:cNvPr id="16" name="TextBox 15"/>
          <p:cNvSpPr txBox="1"/>
          <p:nvPr/>
        </p:nvSpPr>
        <p:spPr>
          <a:xfrm>
            <a:off x="4023360" y="5349240"/>
            <a:ext cx="3291840" cy="640080"/>
          </a:xfrm>
          <a:prstGeom prst="rect">
            <a:avLst/>
          </a:prstGeom>
          <a:noFill/>
        </p:spPr>
        <p:txBody>
          <a:bodyPr wrap="square">
            <a:spAutoFit/>
          </a:bodyPr>
          <a:lstStyle/>
          <a:p>
            <a:pPr algn="ctr"/>
            <a:r>
              <a:rPr sz="1300" b="0" i="0">
                <a:solidFill>
                  <a:srgbClr val="F5EDD8"/>
                </a:solidFill>
                <a:latin typeface="Calibri"/>
              </a:rPr>
              <a:t>manual reassembly time for a typical artifact</a:t>
            </a:r>
          </a:p>
        </p:txBody>
      </p:sp>
      <p:sp>
        <p:nvSpPr>
          <p:cNvPr id="17" name="Rectangle 16"/>
          <p:cNvSpPr/>
          <p:nvPr/>
        </p:nvSpPr>
        <p:spPr>
          <a:xfrm>
            <a:off x="7680960" y="4663440"/>
            <a:ext cx="4114800" cy="137160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709160"/>
            <a:ext cx="3931920" cy="685800"/>
          </a:xfrm>
          <a:prstGeom prst="rect">
            <a:avLst/>
          </a:prstGeom>
          <a:noFill/>
        </p:spPr>
        <p:txBody>
          <a:bodyPr wrap="square">
            <a:spAutoFit/>
          </a:bodyPr>
          <a:lstStyle/>
          <a:p>
            <a:pPr algn="ctr"/>
            <a:r>
              <a:rPr sz="3800" b="1" i="0">
                <a:solidFill>
                  <a:srgbClr val="FAF7F2"/>
                </a:solidFill>
                <a:latin typeface="Calibri"/>
              </a:rPr>
              <a:t>Seconds</a:t>
            </a:r>
          </a:p>
        </p:txBody>
      </p:sp>
      <p:sp>
        <p:nvSpPr>
          <p:cNvPr id="19" name="TextBox 18"/>
          <p:cNvSpPr txBox="1"/>
          <p:nvPr/>
        </p:nvSpPr>
        <p:spPr>
          <a:xfrm>
            <a:off x="7772400" y="5349240"/>
            <a:ext cx="3931920" cy="640080"/>
          </a:xfrm>
          <a:prstGeom prst="rect">
            <a:avLst/>
          </a:prstGeom>
          <a:noFill/>
        </p:spPr>
        <p:txBody>
          <a:bodyPr wrap="square">
            <a:spAutoFit/>
          </a:bodyPr>
          <a:lstStyle/>
          <a:p>
            <a:pPr algn="ctr"/>
            <a:r>
              <a:rPr sz="1300" b="0" i="0">
                <a:solidFill>
                  <a:srgbClr val="FAF7F2"/>
                </a:solidFill>
                <a:latin typeface="Calibri"/>
              </a:rPr>
              <a:t>with our automated pipeline</a:t>
            </a:r>
          </a:p>
        </p:txBody>
      </p:sp>
      <p:sp>
        <p:nvSpPr>
          <p:cNvPr id="20" name="Rectangle 19"/>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Our Pipeline — 5 Stages</a:t>
            </a:r>
          </a:p>
        </p:txBody>
      </p:sp>
      <p:sp>
        <p:nvSpPr>
          <p:cNvPr id="5" name="TextBox 4"/>
          <p:cNvSpPr txBox="1"/>
          <p:nvPr/>
        </p:nvSpPr>
        <p:spPr>
          <a:xfrm>
            <a:off x="365760" y="914400"/>
            <a:ext cx="11430000" cy="411480"/>
          </a:xfrm>
          <a:prstGeom prst="rect">
            <a:avLst/>
          </a:prstGeom>
          <a:noFill/>
        </p:spPr>
        <p:txBody>
          <a:bodyPr wrap="square">
            <a:spAutoFit/>
          </a:bodyPr>
          <a:lstStyle/>
          <a:p>
            <a:pPr algn="l"/>
            <a:r>
              <a:rPr sz="1600" b="0" i="0">
                <a:solidFill>
                  <a:srgbClr val="5C3D1E"/>
                </a:solidFill>
                <a:latin typeface="Calibri"/>
              </a:rPr>
              <a:t>Every stage maps directly to an algorithm from the ICBV lectures.</a:t>
            </a:r>
          </a:p>
        </p:txBody>
      </p:sp>
      <p:sp>
        <p:nvSpPr>
          <p:cNvPr id="6" name="Rectangle 5"/>
          <p:cNvSpPr/>
          <p:nvPr/>
        </p:nvSpPr>
        <p:spPr>
          <a:xfrm>
            <a:off x="274320" y="1463040"/>
            <a:ext cx="2240280" cy="210312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502920" cy="21031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 y="1874520"/>
            <a:ext cx="429768" cy="731520"/>
          </a:xfrm>
          <a:prstGeom prst="rect">
            <a:avLst/>
          </a:prstGeom>
          <a:noFill/>
        </p:spPr>
        <p:txBody>
          <a:bodyPr wrap="square">
            <a:spAutoFit/>
          </a:bodyPr>
          <a:lstStyle/>
          <a:p>
            <a:pPr algn="ctr"/>
            <a:r>
              <a:rPr sz="2800" b="1" i="0">
                <a:solidFill>
                  <a:srgbClr val="FAF7F2"/>
                </a:solidFill>
                <a:latin typeface="Calibri"/>
              </a:rPr>
              <a:t>1</a:t>
            </a:r>
          </a:p>
        </p:txBody>
      </p:sp>
      <p:sp>
        <p:nvSpPr>
          <p:cNvPr id="9" name="TextBox 8"/>
          <p:cNvSpPr txBox="1"/>
          <p:nvPr/>
        </p:nvSpPr>
        <p:spPr>
          <a:xfrm>
            <a:off x="868680" y="1536192"/>
            <a:ext cx="1554480" cy="411480"/>
          </a:xfrm>
          <a:prstGeom prst="rect">
            <a:avLst/>
          </a:prstGeom>
          <a:noFill/>
        </p:spPr>
        <p:txBody>
          <a:bodyPr wrap="square">
            <a:spAutoFit/>
          </a:bodyPr>
          <a:lstStyle/>
          <a:p>
            <a:pPr algn="l"/>
            <a:r>
              <a:rPr sz="1400" b="1" i="0">
                <a:solidFill>
                  <a:srgbClr val="5C3D1E"/>
                </a:solidFill>
                <a:latin typeface="Calibri"/>
              </a:rPr>
              <a:t>Preprocessing</a:t>
            </a:r>
          </a:p>
        </p:txBody>
      </p:sp>
      <p:sp>
        <p:nvSpPr>
          <p:cNvPr id="10" name="TextBox 9"/>
          <p:cNvSpPr txBox="1"/>
          <p:nvPr/>
        </p:nvSpPr>
        <p:spPr>
          <a:xfrm>
            <a:off x="868680" y="1938528"/>
            <a:ext cx="1554480" cy="1554479"/>
          </a:xfrm>
          <a:prstGeom prst="rect">
            <a:avLst/>
          </a:prstGeom>
          <a:noFill/>
        </p:spPr>
        <p:txBody>
          <a:bodyPr wrap="square">
            <a:spAutoFit/>
          </a:bodyPr>
          <a:lstStyle/>
          <a:p>
            <a:pPr algn="l"/>
            <a:r>
              <a:rPr sz="1100" b="0" i="0">
                <a:solidFill>
                  <a:srgbClr val="5C3D1E"/>
                </a:solidFill>
                <a:latin typeface="Calibri"/>
              </a:rPr>
              <a:t>Gaussian blur + Otsu
thresholding + contour extraction</a:t>
            </a:r>
          </a:p>
        </p:txBody>
      </p:sp>
      <p:sp>
        <p:nvSpPr>
          <p:cNvPr id="11" name="Rectangle 10"/>
          <p:cNvSpPr/>
          <p:nvPr/>
        </p:nvSpPr>
        <p:spPr>
          <a:xfrm>
            <a:off x="2523744" y="2377440"/>
            <a:ext cx="91440" cy="457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2240280"/>
            <a:ext cx="201168" cy="320040"/>
          </a:xfrm>
          <a:prstGeom prst="rect">
            <a:avLst/>
          </a:prstGeom>
          <a:noFill/>
        </p:spPr>
        <p:txBody>
          <a:bodyPr wrap="square">
            <a:spAutoFit/>
          </a:bodyPr>
          <a:lstStyle/>
          <a:p>
            <a:pPr algn="ctr"/>
            <a:r>
              <a:rPr sz="1400" b="0" i="0">
                <a:solidFill>
                  <a:srgbClr val="B85042"/>
                </a:solidFill>
                <a:latin typeface="Calibri"/>
              </a:rPr>
              <a:t>▶</a:t>
            </a:r>
          </a:p>
        </p:txBody>
      </p:sp>
      <p:sp>
        <p:nvSpPr>
          <p:cNvPr id="13" name="Rectangle 12"/>
          <p:cNvSpPr/>
          <p:nvPr/>
        </p:nvSpPr>
        <p:spPr>
          <a:xfrm>
            <a:off x="2606040" y="1463040"/>
            <a:ext cx="2240280" cy="210312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6040" y="1463040"/>
            <a:ext cx="502920" cy="21031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42616" y="1874520"/>
            <a:ext cx="429768" cy="731520"/>
          </a:xfrm>
          <a:prstGeom prst="rect">
            <a:avLst/>
          </a:prstGeom>
          <a:noFill/>
        </p:spPr>
        <p:txBody>
          <a:bodyPr wrap="square">
            <a:spAutoFit/>
          </a:bodyPr>
          <a:lstStyle/>
          <a:p>
            <a:pPr algn="ctr"/>
            <a:r>
              <a:rPr sz="2800" b="1" i="0">
                <a:solidFill>
                  <a:srgbClr val="FAF7F2"/>
                </a:solidFill>
                <a:latin typeface="Calibri"/>
              </a:rPr>
              <a:t>2</a:t>
            </a:r>
          </a:p>
        </p:txBody>
      </p:sp>
      <p:sp>
        <p:nvSpPr>
          <p:cNvPr id="16" name="TextBox 15"/>
          <p:cNvSpPr txBox="1"/>
          <p:nvPr/>
        </p:nvSpPr>
        <p:spPr>
          <a:xfrm>
            <a:off x="3200400" y="1536192"/>
            <a:ext cx="1554480" cy="411480"/>
          </a:xfrm>
          <a:prstGeom prst="rect">
            <a:avLst/>
          </a:prstGeom>
          <a:noFill/>
        </p:spPr>
        <p:txBody>
          <a:bodyPr wrap="square">
            <a:spAutoFit/>
          </a:bodyPr>
          <a:lstStyle/>
          <a:p>
            <a:pPr algn="l"/>
            <a:r>
              <a:rPr sz="1400" b="1" i="0">
                <a:solidFill>
                  <a:srgbClr val="5C3D1E"/>
                </a:solidFill>
                <a:latin typeface="Calibri"/>
              </a:rPr>
              <a:t>Shape Encoding</a:t>
            </a:r>
          </a:p>
        </p:txBody>
      </p:sp>
      <p:sp>
        <p:nvSpPr>
          <p:cNvPr id="17" name="TextBox 16"/>
          <p:cNvSpPr txBox="1"/>
          <p:nvPr/>
        </p:nvSpPr>
        <p:spPr>
          <a:xfrm>
            <a:off x="3200400" y="1938528"/>
            <a:ext cx="1554480" cy="1554479"/>
          </a:xfrm>
          <a:prstGeom prst="rect">
            <a:avLst/>
          </a:prstGeom>
          <a:noFill/>
        </p:spPr>
        <p:txBody>
          <a:bodyPr wrap="square">
            <a:spAutoFit/>
          </a:bodyPr>
          <a:lstStyle/>
          <a:p>
            <a:pPr algn="l"/>
            <a:r>
              <a:rPr sz="1100" b="0" i="0">
                <a:solidFill>
                  <a:srgbClr val="5C3D1E"/>
                </a:solidFill>
                <a:latin typeface="Calibri"/>
              </a:rPr>
              <a:t>Freeman chain code
+ PCA normalization</a:t>
            </a:r>
          </a:p>
        </p:txBody>
      </p:sp>
      <p:sp>
        <p:nvSpPr>
          <p:cNvPr id="18" name="Rectangle 17"/>
          <p:cNvSpPr/>
          <p:nvPr/>
        </p:nvSpPr>
        <p:spPr>
          <a:xfrm>
            <a:off x="4855464" y="2377440"/>
            <a:ext cx="91440" cy="457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9744" y="2240280"/>
            <a:ext cx="201168" cy="320040"/>
          </a:xfrm>
          <a:prstGeom prst="rect">
            <a:avLst/>
          </a:prstGeom>
          <a:noFill/>
        </p:spPr>
        <p:txBody>
          <a:bodyPr wrap="square">
            <a:spAutoFit/>
          </a:bodyPr>
          <a:lstStyle/>
          <a:p>
            <a:pPr algn="ctr"/>
            <a:r>
              <a:rPr sz="1400" b="0" i="0">
                <a:solidFill>
                  <a:srgbClr val="B85042"/>
                </a:solidFill>
                <a:latin typeface="Calibri"/>
              </a:rPr>
              <a:t>▶</a:t>
            </a:r>
          </a:p>
        </p:txBody>
      </p:sp>
      <p:sp>
        <p:nvSpPr>
          <p:cNvPr id="20" name="Rectangle 19"/>
          <p:cNvSpPr/>
          <p:nvPr/>
        </p:nvSpPr>
        <p:spPr>
          <a:xfrm>
            <a:off x="4937760" y="1463040"/>
            <a:ext cx="2240280" cy="210312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0" y="1463040"/>
            <a:ext cx="502920" cy="21031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74336" y="1874520"/>
            <a:ext cx="429768" cy="731520"/>
          </a:xfrm>
          <a:prstGeom prst="rect">
            <a:avLst/>
          </a:prstGeom>
          <a:noFill/>
        </p:spPr>
        <p:txBody>
          <a:bodyPr wrap="square">
            <a:spAutoFit/>
          </a:bodyPr>
          <a:lstStyle/>
          <a:p>
            <a:pPr algn="ctr"/>
            <a:r>
              <a:rPr sz="2800" b="1" i="0">
                <a:solidFill>
                  <a:srgbClr val="FAF7F2"/>
                </a:solidFill>
                <a:latin typeface="Calibri"/>
              </a:rPr>
              <a:t>3</a:t>
            </a:r>
          </a:p>
        </p:txBody>
      </p:sp>
      <p:sp>
        <p:nvSpPr>
          <p:cNvPr id="23" name="TextBox 22"/>
          <p:cNvSpPr txBox="1"/>
          <p:nvPr/>
        </p:nvSpPr>
        <p:spPr>
          <a:xfrm>
            <a:off x="5532120" y="1536192"/>
            <a:ext cx="1554480" cy="411480"/>
          </a:xfrm>
          <a:prstGeom prst="rect">
            <a:avLst/>
          </a:prstGeom>
          <a:noFill/>
        </p:spPr>
        <p:txBody>
          <a:bodyPr wrap="square">
            <a:spAutoFit/>
          </a:bodyPr>
          <a:lstStyle/>
          <a:p>
            <a:pPr algn="l"/>
            <a:r>
              <a:rPr sz="1400" b="1" i="0">
                <a:solidFill>
                  <a:srgbClr val="5C3D1E"/>
                </a:solidFill>
                <a:latin typeface="Calibri"/>
              </a:rPr>
              <a:t>Edge Compatibility</a:t>
            </a:r>
          </a:p>
        </p:txBody>
      </p:sp>
      <p:sp>
        <p:nvSpPr>
          <p:cNvPr id="24" name="TextBox 23"/>
          <p:cNvSpPr txBox="1"/>
          <p:nvPr/>
        </p:nvSpPr>
        <p:spPr>
          <a:xfrm>
            <a:off x="5532120" y="1938528"/>
            <a:ext cx="1554480" cy="1554479"/>
          </a:xfrm>
          <a:prstGeom prst="rect">
            <a:avLst/>
          </a:prstGeom>
          <a:noFill/>
        </p:spPr>
        <p:txBody>
          <a:bodyPr wrap="square">
            <a:spAutoFit/>
          </a:bodyPr>
          <a:lstStyle/>
          <a:p>
            <a:pPr algn="l"/>
            <a:r>
              <a:rPr sz="1100" b="0" i="0">
                <a:solidFill>
                  <a:srgbClr val="5C3D1E"/>
                </a:solidFill>
                <a:latin typeface="Calibri"/>
              </a:rPr>
              <a:t>Curvature cross-correlation
+ Fourier descriptors</a:t>
            </a:r>
          </a:p>
        </p:txBody>
      </p:sp>
      <p:sp>
        <p:nvSpPr>
          <p:cNvPr id="25" name="Rectangle 24"/>
          <p:cNvSpPr/>
          <p:nvPr/>
        </p:nvSpPr>
        <p:spPr>
          <a:xfrm>
            <a:off x="7187184" y="2377440"/>
            <a:ext cx="91440" cy="457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41464" y="2240280"/>
            <a:ext cx="201168" cy="320040"/>
          </a:xfrm>
          <a:prstGeom prst="rect">
            <a:avLst/>
          </a:prstGeom>
          <a:noFill/>
        </p:spPr>
        <p:txBody>
          <a:bodyPr wrap="square">
            <a:spAutoFit/>
          </a:bodyPr>
          <a:lstStyle/>
          <a:p>
            <a:pPr algn="ctr"/>
            <a:r>
              <a:rPr sz="1400" b="0" i="0">
                <a:solidFill>
                  <a:srgbClr val="B85042"/>
                </a:solidFill>
                <a:latin typeface="Calibri"/>
              </a:rPr>
              <a:t>▶</a:t>
            </a:r>
          </a:p>
        </p:txBody>
      </p:sp>
      <p:sp>
        <p:nvSpPr>
          <p:cNvPr id="27" name="Rectangle 26"/>
          <p:cNvSpPr/>
          <p:nvPr/>
        </p:nvSpPr>
        <p:spPr>
          <a:xfrm>
            <a:off x="7269480" y="1463040"/>
            <a:ext cx="2240280" cy="210312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1463040"/>
            <a:ext cx="502920" cy="21031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06056" y="1874520"/>
            <a:ext cx="429768" cy="731520"/>
          </a:xfrm>
          <a:prstGeom prst="rect">
            <a:avLst/>
          </a:prstGeom>
          <a:noFill/>
        </p:spPr>
        <p:txBody>
          <a:bodyPr wrap="square">
            <a:spAutoFit/>
          </a:bodyPr>
          <a:lstStyle/>
          <a:p>
            <a:pPr algn="ctr"/>
            <a:r>
              <a:rPr sz="2800" b="1" i="0">
                <a:solidFill>
                  <a:srgbClr val="FAF7F2"/>
                </a:solidFill>
                <a:latin typeface="Calibri"/>
              </a:rPr>
              <a:t>4</a:t>
            </a:r>
          </a:p>
        </p:txBody>
      </p:sp>
      <p:sp>
        <p:nvSpPr>
          <p:cNvPr id="30" name="TextBox 29"/>
          <p:cNvSpPr txBox="1"/>
          <p:nvPr/>
        </p:nvSpPr>
        <p:spPr>
          <a:xfrm>
            <a:off x="7863840" y="1536192"/>
            <a:ext cx="1554480" cy="411480"/>
          </a:xfrm>
          <a:prstGeom prst="rect">
            <a:avLst/>
          </a:prstGeom>
          <a:noFill/>
        </p:spPr>
        <p:txBody>
          <a:bodyPr wrap="square">
            <a:spAutoFit/>
          </a:bodyPr>
          <a:lstStyle/>
          <a:p>
            <a:pPr algn="l"/>
            <a:r>
              <a:rPr sz="1400" b="1" i="0">
                <a:solidFill>
                  <a:srgbClr val="5C3D1E"/>
                </a:solidFill>
                <a:latin typeface="Calibri"/>
              </a:rPr>
              <a:t>Color Pre-Check</a:t>
            </a:r>
          </a:p>
        </p:txBody>
      </p:sp>
      <p:sp>
        <p:nvSpPr>
          <p:cNvPr id="31" name="TextBox 30"/>
          <p:cNvSpPr txBox="1"/>
          <p:nvPr/>
        </p:nvSpPr>
        <p:spPr>
          <a:xfrm>
            <a:off x="7863840" y="1938528"/>
            <a:ext cx="1554480" cy="1554479"/>
          </a:xfrm>
          <a:prstGeom prst="rect">
            <a:avLst/>
          </a:prstGeom>
          <a:noFill/>
        </p:spPr>
        <p:txBody>
          <a:bodyPr wrap="square">
            <a:spAutoFit/>
          </a:bodyPr>
          <a:lstStyle/>
          <a:p>
            <a:pPr algn="l"/>
            <a:r>
              <a:rPr sz="1100" b="0" i="0">
                <a:solidFill>
                  <a:srgbClr val="5C3D1E"/>
                </a:solidFill>
                <a:latin typeface="Calibri"/>
              </a:rPr>
              <a:t>Bhattacharyya histogram
distance + bimodal detection</a:t>
            </a:r>
          </a:p>
        </p:txBody>
      </p:sp>
      <p:sp>
        <p:nvSpPr>
          <p:cNvPr id="32" name="Rectangle 31"/>
          <p:cNvSpPr/>
          <p:nvPr/>
        </p:nvSpPr>
        <p:spPr>
          <a:xfrm>
            <a:off x="9518904" y="2377440"/>
            <a:ext cx="91440" cy="457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73184" y="2240280"/>
            <a:ext cx="201168" cy="320040"/>
          </a:xfrm>
          <a:prstGeom prst="rect">
            <a:avLst/>
          </a:prstGeom>
          <a:noFill/>
        </p:spPr>
        <p:txBody>
          <a:bodyPr wrap="square">
            <a:spAutoFit/>
          </a:bodyPr>
          <a:lstStyle/>
          <a:p>
            <a:pPr algn="ctr"/>
            <a:r>
              <a:rPr sz="1400" b="0" i="0">
                <a:solidFill>
                  <a:srgbClr val="B85042"/>
                </a:solidFill>
                <a:latin typeface="Calibri"/>
              </a:rPr>
              <a:t>▶</a:t>
            </a:r>
          </a:p>
        </p:txBody>
      </p:sp>
      <p:sp>
        <p:nvSpPr>
          <p:cNvPr id="34" name="Rectangle 33"/>
          <p:cNvSpPr/>
          <p:nvPr/>
        </p:nvSpPr>
        <p:spPr>
          <a:xfrm>
            <a:off x="9601200" y="1463040"/>
            <a:ext cx="2240280" cy="210312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01200" y="1463040"/>
            <a:ext cx="502920" cy="21031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37776" y="1874520"/>
            <a:ext cx="429768" cy="731520"/>
          </a:xfrm>
          <a:prstGeom prst="rect">
            <a:avLst/>
          </a:prstGeom>
          <a:noFill/>
        </p:spPr>
        <p:txBody>
          <a:bodyPr wrap="square">
            <a:spAutoFit/>
          </a:bodyPr>
          <a:lstStyle/>
          <a:p>
            <a:pPr algn="ctr"/>
            <a:r>
              <a:rPr sz="2800" b="1" i="0">
                <a:solidFill>
                  <a:srgbClr val="FAF7F2"/>
                </a:solidFill>
                <a:latin typeface="Calibri"/>
              </a:rPr>
              <a:t>5</a:t>
            </a:r>
          </a:p>
        </p:txBody>
      </p:sp>
      <p:sp>
        <p:nvSpPr>
          <p:cNvPr id="37" name="TextBox 36"/>
          <p:cNvSpPr txBox="1"/>
          <p:nvPr/>
        </p:nvSpPr>
        <p:spPr>
          <a:xfrm>
            <a:off x="10195560" y="1536192"/>
            <a:ext cx="1554480" cy="411480"/>
          </a:xfrm>
          <a:prstGeom prst="rect">
            <a:avLst/>
          </a:prstGeom>
          <a:noFill/>
        </p:spPr>
        <p:txBody>
          <a:bodyPr wrap="square">
            <a:spAutoFit/>
          </a:bodyPr>
          <a:lstStyle/>
          <a:p>
            <a:pPr algn="l"/>
            <a:r>
              <a:rPr sz="1400" b="1" i="0">
                <a:solidFill>
                  <a:srgbClr val="5C3D1E"/>
                </a:solidFill>
                <a:latin typeface="Calibri"/>
              </a:rPr>
              <a:t>Assembly Search</a:t>
            </a:r>
          </a:p>
        </p:txBody>
      </p:sp>
      <p:sp>
        <p:nvSpPr>
          <p:cNvPr id="38" name="TextBox 37"/>
          <p:cNvSpPr txBox="1"/>
          <p:nvPr/>
        </p:nvSpPr>
        <p:spPr>
          <a:xfrm>
            <a:off x="10195560" y="1938528"/>
            <a:ext cx="1554480" cy="1554479"/>
          </a:xfrm>
          <a:prstGeom prst="rect">
            <a:avLst/>
          </a:prstGeom>
          <a:noFill/>
        </p:spPr>
        <p:txBody>
          <a:bodyPr wrap="square">
            <a:spAutoFit/>
          </a:bodyPr>
          <a:lstStyle/>
          <a:p>
            <a:pPr algn="l"/>
            <a:r>
              <a:rPr sz="1100" b="0" i="0">
                <a:solidFill>
                  <a:srgbClr val="5C3D1E"/>
                </a:solidFill>
                <a:latin typeface="Calibri"/>
              </a:rPr>
              <a:t>Relaxation Labeling
(iterative constraint propagation)</a:t>
            </a:r>
          </a:p>
        </p:txBody>
      </p:sp>
      <p:sp>
        <p:nvSpPr>
          <p:cNvPr id="39" name="Rectangle 38"/>
          <p:cNvSpPr/>
          <p:nvPr/>
        </p:nvSpPr>
        <p:spPr>
          <a:xfrm>
            <a:off x="274320" y="3794760"/>
            <a:ext cx="11640312" cy="45720"/>
          </a:xfrm>
          <a:prstGeom prst="rect">
            <a:avLst/>
          </a:prstGeom>
          <a:solidFill>
            <a:srgbClr val="9E8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 y="3931920"/>
            <a:ext cx="3200400" cy="109728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3950208"/>
            <a:ext cx="1005840" cy="365760"/>
          </a:xfrm>
          <a:prstGeom prst="rect">
            <a:avLst/>
          </a:prstGeom>
          <a:noFill/>
        </p:spPr>
        <p:txBody>
          <a:bodyPr wrap="square">
            <a:spAutoFit/>
          </a:bodyPr>
          <a:lstStyle/>
          <a:p>
            <a:pPr algn="l"/>
            <a:r>
              <a:rPr sz="1100" b="1" i="0">
                <a:solidFill>
                  <a:srgbClr val="B85042"/>
                </a:solidFill>
                <a:latin typeface="Calibri"/>
              </a:rPr>
              <a:t>INPUT</a:t>
            </a:r>
          </a:p>
        </p:txBody>
      </p:sp>
      <p:sp>
        <p:nvSpPr>
          <p:cNvPr id="42" name="TextBox 41"/>
          <p:cNvSpPr txBox="1"/>
          <p:nvPr/>
        </p:nvSpPr>
        <p:spPr>
          <a:xfrm>
            <a:off x="365760" y="4315968"/>
            <a:ext cx="2926080" cy="685800"/>
          </a:xfrm>
          <a:prstGeom prst="rect">
            <a:avLst/>
          </a:prstGeom>
          <a:noFill/>
        </p:spPr>
        <p:txBody>
          <a:bodyPr wrap="square">
            <a:spAutoFit/>
          </a:bodyPr>
          <a:lstStyle/>
          <a:p>
            <a:pPr algn="l"/>
            <a:r>
              <a:rPr sz="1200" b="0" i="0">
                <a:solidFill>
                  <a:srgbClr val="5C3D1E"/>
                </a:solidFill>
                <a:latin typeface="Calibri"/>
              </a:rPr>
              <a:t>Folder of fragment images
(PNG/JPG, clean background,
one fragment per file)</a:t>
            </a:r>
          </a:p>
        </p:txBody>
      </p:sp>
      <p:sp>
        <p:nvSpPr>
          <p:cNvPr id="43" name="Rectangle 42"/>
          <p:cNvSpPr/>
          <p:nvPr/>
        </p:nvSpPr>
        <p:spPr>
          <a:xfrm>
            <a:off x="8503920" y="3931920"/>
            <a:ext cx="3410712" cy="109728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3950208"/>
            <a:ext cx="1188720" cy="365760"/>
          </a:xfrm>
          <a:prstGeom prst="rect">
            <a:avLst/>
          </a:prstGeom>
          <a:noFill/>
        </p:spPr>
        <p:txBody>
          <a:bodyPr wrap="square">
            <a:spAutoFit/>
          </a:bodyPr>
          <a:lstStyle/>
          <a:p>
            <a:pPr algn="l"/>
            <a:r>
              <a:rPr sz="1100" b="1" i="0">
                <a:solidFill>
                  <a:srgbClr val="B85042"/>
                </a:solidFill>
                <a:latin typeface="Calibri"/>
              </a:rPr>
              <a:t>OUTPUT</a:t>
            </a:r>
          </a:p>
        </p:txBody>
      </p:sp>
      <p:sp>
        <p:nvSpPr>
          <p:cNvPr id="45" name="TextBox 44"/>
          <p:cNvSpPr txBox="1"/>
          <p:nvPr/>
        </p:nvSpPr>
        <p:spPr>
          <a:xfrm>
            <a:off x="8595360" y="4315968"/>
            <a:ext cx="3200400" cy="685800"/>
          </a:xfrm>
          <a:prstGeom prst="rect">
            <a:avLst/>
          </a:prstGeom>
          <a:noFill/>
        </p:spPr>
        <p:txBody>
          <a:bodyPr wrap="square">
            <a:spAutoFit/>
          </a:bodyPr>
          <a:lstStyle/>
          <a:p>
            <a:pPr algn="l"/>
            <a:r>
              <a:rPr sz="1200" b="0" i="0">
                <a:solidFill>
                  <a:srgbClr val="5C3D1E"/>
                </a:solidFill>
                <a:latin typeface="Calibri"/>
              </a:rPr>
              <a:t>Annotated assembly images
+ confidence scores
+ [RESULT] verdict</a:t>
            </a:r>
          </a:p>
        </p:txBody>
      </p:sp>
      <p:sp>
        <p:nvSpPr>
          <p:cNvPr id="46" name="Rectangle 45"/>
          <p:cNvSpPr/>
          <p:nvPr/>
        </p:nvSpPr>
        <p:spPr>
          <a:xfrm>
            <a:off x="3474720" y="3931920"/>
            <a:ext cx="5029200" cy="457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0" y="3977639"/>
            <a:ext cx="5029200" cy="457200"/>
          </a:xfrm>
          <a:prstGeom prst="rect">
            <a:avLst/>
          </a:prstGeom>
          <a:noFill/>
        </p:spPr>
        <p:txBody>
          <a:bodyPr wrap="square">
            <a:spAutoFit/>
          </a:bodyPr>
          <a:lstStyle/>
          <a:p>
            <a:pPr algn="ctr"/>
            <a:r>
              <a:rPr sz="1300" b="0" i="0">
                <a:solidFill>
                  <a:srgbClr val="B85042"/>
                </a:solidFill>
                <a:latin typeface="Calibri"/>
              </a:rPr>
              <a:t>────────────────────────────────────────────►</a:t>
            </a:r>
          </a:p>
        </p:txBody>
      </p:sp>
      <p:sp>
        <p:nvSpPr>
          <p:cNvPr id="48" name="Rectangle 47"/>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Dataset — Generating Realistic Fragments</a:t>
            </a:r>
          </a:p>
        </p:txBody>
      </p:sp>
      <p:sp>
        <p:nvSpPr>
          <p:cNvPr id="5" name="TextBox 4"/>
          <p:cNvSpPr txBox="1"/>
          <p:nvPr/>
        </p:nvSpPr>
        <p:spPr>
          <a:xfrm>
            <a:off x="365760" y="914400"/>
            <a:ext cx="6858000" cy="640080"/>
          </a:xfrm>
          <a:prstGeom prst="rect">
            <a:avLst/>
          </a:prstGeom>
          <a:noFill/>
        </p:spPr>
        <p:txBody>
          <a:bodyPr wrap="square">
            <a:spAutoFit/>
          </a:bodyPr>
          <a:lstStyle/>
          <a:p>
            <a:pPr algn="l"/>
            <a:r>
              <a:rPr sz="1500" b="0" i="0">
                <a:solidFill>
                  <a:srgbClr val="5C3D1E"/>
                </a:solidFill>
                <a:latin typeface="Calibri"/>
              </a:rPr>
              <a:t>Since real pre-segmented fragment images are hard to obtain, we built a
fragment generator from scratch.</a:t>
            </a:r>
          </a:p>
        </p:txBody>
      </p:sp>
      <p:sp>
        <p:nvSpPr>
          <p:cNvPr id="6" name="TextBox 5"/>
          <p:cNvSpPr txBox="1"/>
          <p:nvPr/>
        </p:nvSpPr>
        <p:spPr>
          <a:xfrm>
            <a:off x="365760" y="1691640"/>
            <a:ext cx="6035040" cy="347472"/>
          </a:xfrm>
          <a:prstGeom prst="rect">
            <a:avLst/>
          </a:prstGeom>
          <a:noFill/>
        </p:spPr>
        <p:txBody>
          <a:bodyPr wrap="square">
            <a:spAutoFit/>
          </a:bodyPr>
          <a:lstStyle/>
          <a:p>
            <a:pPr algn="l"/>
            <a:r>
              <a:rPr sz="1500" b="1" i="0">
                <a:solidFill>
                  <a:srgbClr val="5C3D1E"/>
                </a:solidFill>
                <a:latin typeface="Calibri"/>
              </a:rPr>
              <a:t>▸  Voronoi tessellation</a:t>
            </a:r>
          </a:p>
        </p:txBody>
      </p:sp>
      <p:sp>
        <p:nvSpPr>
          <p:cNvPr id="7" name="TextBox 6"/>
          <p:cNvSpPr txBox="1"/>
          <p:nvPr/>
        </p:nvSpPr>
        <p:spPr>
          <a:xfrm>
            <a:off x="640080" y="2039112"/>
            <a:ext cx="5760720" cy="347472"/>
          </a:xfrm>
          <a:prstGeom prst="rect">
            <a:avLst/>
          </a:prstGeom>
          <a:noFill/>
        </p:spPr>
        <p:txBody>
          <a:bodyPr wrap="square">
            <a:spAutoFit/>
          </a:bodyPr>
          <a:lstStyle/>
          <a:p>
            <a:pPr algn="l"/>
            <a:r>
              <a:rPr sz="1400" b="0" i="0">
                <a:solidFill>
                  <a:srgbClr val="9E866E"/>
                </a:solidFill>
                <a:latin typeface="Calibri"/>
              </a:rPr>
              <a:t>–  Divide the image into N random Voronoi cells — each becomes a fragment.</a:t>
            </a:r>
          </a:p>
        </p:txBody>
      </p:sp>
      <p:sp>
        <p:nvSpPr>
          <p:cNvPr id="8" name="TextBox 7"/>
          <p:cNvSpPr txBox="1"/>
          <p:nvPr/>
        </p:nvSpPr>
        <p:spPr>
          <a:xfrm>
            <a:off x="365760" y="2386584"/>
            <a:ext cx="6035040" cy="347472"/>
          </a:xfrm>
          <a:prstGeom prst="rect">
            <a:avLst/>
          </a:prstGeom>
          <a:noFill/>
        </p:spPr>
        <p:txBody>
          <a:bodyPr wrap="square">
            <a:spAutoFit/>
          </a:bodyPr>
          <a:lstStyle/>
          <a:p>
            <a:pPr algn="l"/>
            <a:r>
              <a:rPr sz="1500" b="1" i="0">
                <a:solidFill>
                  <a:srgbClr val="5C3D1E"/>
                </a:solidFill>
                <a:latin typeface="Calibri"/>
              </a:rPr>
              <a:t>▸  Gaussian noise displacement</a:t>
            </a:r>
          </a:p>
        </p:txBody>
      </p:sp>
      <p:sp>
        <p:nvSpPr>
          <p:cNvPr id="9" name="TextBox 8"/>
          <p:cNvSpPr txBox="1"/>
          <p:nvPr/>
        </p:nvSpPr>
        <p:spPr>
          <a:xfrm>
            <a:off x="640080" y="2734056"/>
            <a:ext cx="5760720" cy="347472"/>
          </a:xfrm>
          <a:prstGeom prst="rect">
            <a:avLst/>
          </a:prstGeom>
          <a:noFill/>
        </p:spPr>
        <p:txBody>
          <a:bodyPr wrap="square">
            <a:spAutoFit/>
          </a:bodyPr>
          <a:lstStyle/>
          <a:p>
            <a:pPr algn="l"/>
            <a:r>
              <a:rPr sz="1400" b="0" i="0">
                <a:solidFill>
                  <a:srgbClr val="9E866E"/>
                </a:solidFill>
                <a:latin typeface="Calibri"/>
              </a:rPr>
              <a:t>–  Jitter cell boundaries to produce irregular, jagged fracture lines.</a:t>
            </a:r>
          </a:p>
        </p:txBody>
      </p:sp>
      <p:sp>
        <p:nvSpPr>
          <p:cNvPr id="10" name="TextBox 9"/>
          <p:cNvSpPr txBox="1"/>
          <p:nvPr/>
        </p:nvSpPr>
        <p:spPr>
          <a:xfrm>
            <a:off x="365760" y="3081527"/>
            <a:ext cx="6035040" cy="347472"/>
          </a:xfrm>
          <a:prstGeom prst="rect">
            <a:avLst/>
          </a:prstGeom>
          <a:noFill/>
        </p:spPr>
        <p:txBody>
          <a:bodyPr wrap="square">
            <a:spAutoFit/>
          </a:bodyPr>
          <a:lstStyle/>
          <a:p>
            <a:pPr algn="l"/>
            <a:r>
              <a:rPr sz="1500" b="1" i="0">
                <a:solidFill>
                  <a:srgbClr val="5C3D1E"/>
                </a:solidFill>
                <a:latin typeface="Calibri"/>
              </a:rPr>
              <a:t>▸  Missing pieces</a:t>
            </a:r>
          </a:p>
        </p:txBody>
      </p:sp>
      <p:sp>
        <p:nvSpPr>
          <p:cNvPr id="11" name="TextBox 10"/>
          <p:cNvSpPr txBox="1"/>
          <p:nvPr/>
        </p:nvSpPr>
        <p:spPr>
          <a:xfrm>
            <a:off x="640080" y="3428999"/>
            <a:ext cx="5760720" cy="347472"/>
          </a:xfrm>
          <a:prstGeom prst="rect">
            <a:avLst/>
          </a:prstGeom>
          <a:noFill/>
        </p:spPr>
        <p:txBody>
          <a:bodyPr wrap="square">
            <a:spAutoFit/>
          </a:bodyPr>
          <a:lstStyle/>
          <a:p>
            <a:pPr algn="l"/>
            <a:r>
              <a:rPr sz="1400" b="0" i="0">
                <a:solidFill>
                  <a:srgbClr val="9E866E"/>
                </a:solidFill>
                <a:latin typeface="Calibri"/>
              </a:rPr>
              <a:t>–  Randomly drop K fragments to simulate lost or unrecovered pieces.</a:t>
            </a:r>
          </a:p>
        </p:txBody>
      </p:sp>
      <p:sp>
        <p:nvSpPr>
          <p:cNvPr id="12" name="TextBox 11"/>
          <p:cNvSpPr txBox="1"/>
          <p:nvPr/>
        </p:nvSpPr>
        <p:spPr>
          <a:xfrm>
            <a:off x="365760" y="3776472"/>
            <a:ext cx="6035040" cy="347472"/>
          </a:xfrm>
          <a:prstGeom prst="rect">
            <a:avLst/>
          </a:prstGeom>
          <a:noFill/>
        </p:spPr>
        <p:txBody>
          <a:bodyPr wrap="square">
            <a:spAutoFit/>
          </a:bodyPr>
          <a:lstStyle/>
          <a:p>
            <a:pPr algn="l"/>
            <a:r>
              <a:rPr sz="1500" b="1" i="0">
                <a:solidFill>
                  <a:srgbClr val="5C3D1E"/>
                </a:solidFill>
                <a:latin typeface="Calibri"/>
              </a:rPr>
              <a:t>▸  Erosion damage</a:t>
            </a:r>
          </a:p>
        </p:txBody>
      </p:sp>
      <p:sp>
        <p:nvSpPr>
          <p:cNvPr id="13" name="TextBox 12"/>
          <p:cNvSpPr txBox="1"/>
          <p:nvPr/>
        </p:nvSpPr>
        <p:spPr>
          <a:xfrm>
            <a:off x="640080" y="4123944"/>
            <a:ext cx="5760720" cy="347472"/>
          </a:xfrm>
          <a:prstGeom prst="rect">
            <a:avLst/>
          </a:prstGeom>
          <a:noFill/>
        </p:spPr>
        <p:txBody>
          <a:bodyPr wrap="square">
            <a:spAutoFit/>
          </a:bodyPr>
          <a:lstStyle/>
          <a:p>
            <a:pPr algn="l"/>
            <a:r>
              <a:rPr sz="1400" b="0" i="0">
                <a:solidFill>
                  <a:srgbClr val="9E866E"/>
                </a:solidFill>
                <a:latin typeface="Calibri"/>
              </a:rPr>
              <a:t>–  Apply random elliptical erosion blobs to simulate weathering effects.</a:t>
            </a:r>
          </a:p>
        </p:txBody>
      </p:sp>
      <p:sp>
        <p:nvSpPr>
          <p:cNvPr id="14" name="Rectangle 13"/>
          <p:cNvSpPr/>
          <p:nvPr/>
        </p:nvSpPr>
        <p:spPr>
          <a:xfrm>
            <a:off x="7406640" y="960120"/>
            <a:ext cx="4434840" cy="51206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960120"/>
            <a:ext cx="4434840" cy="36576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978408"/>
            <a:ext cx="4206240" cy="320040"/>
          </a:xfrm>
          <a:prstGeom prst="rect">
            <a:avLst/>
          </a:prstGeom>
          <a:noFill/>
        </p:spPr>
        <p:txBody>
          <a:bodyPr wrap="square">
            <a:spAutoFit/>
          </a:bodyPr>
          <a:lstStyle/>
          <a:p>
            <a:pPr algn="l"/>
            <a:r>
              <a:rPr sz="1400" b="1" i="0">
                <a:solidFill>
                  <a:srgbClr val="FAF7F2"/>
                </a:solidFill>
                <a:latin typeface="Calibri"/>
              </a:rPr>
              <a:t>Dataset Statistics</a:t>
            </a:r>
          </a:p>
        </p:txBody>
      </p:sp>
      <p:sp>
        <p:nvSpPr>
          <p:cNvPr id="17" name="Rectangle 16"/>
          <p:cNvSpPr/>
          <p:nvPr/>
        </p:nvSpPr>
        <p:spPr>
          <a:xfrm>
            <a:off x="7543800" y="1463040"/>
            <a:ext cx="4160520" cy="7772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1508760"/>
            <a:ext cx="1188720" cy="685800"/>
          </a:xfrm>
          <a:prstGeom prst="rect">
            <a:avLst/>
          </a:prstGeom>
          <a:noFill/>
        </p:spPr>
        <p:txBody>
          <a:bodyPr wrap="square">
            <a:spAutoFit/>
          </a:bodyPr>
          <a:lstStyle/>
          <a:p>
            <a:pPr algn="r"/>
            <a:r>
              <a:rPr sz="2600" b="1" i="0">
                <a:solidFill>
                  <a:srgbClr val="B85042"/>
                </a:solidFill>
                <a:latin typeface="Calibri"/>
              </a:rPr>
              <a:t>9</a:t>
            </a:r>
          </a:p>
        </p:txBody>
      </p:sp>
      <p:sp>
        <p:nvSpPr>
          <p:cNvPr id="19" name="TextBox 18"/>
          <p:cNvSpPr txBox="1"/>
          <p:nvPr/>
        </p:nvSpPr>
        <p:spPr>
          <a:xfrm>
            <a:off x="8869680" y="1508760"/>
            <a:ext cx="2743200" cy="685800"/>
          </a:xfrm>
          <a:prstGeom prst="rect">
            <a:avLst/>
          </a:prstGeom>
          <a:noFill/>
        </p:spPr>
        <p:txBody>
          <a:bodyPr wrap="square">
            <a:spAutoFit/>
          </a:bodyPr>
          <a:lstStyle/>
          <a:p>
            <a:pPr algn="l"/>
            <a:r>
              <a:rPr sz="1200" b="0" i="0">
                <a:solidFill>
                  <a:srgbClr val="5C3D1E"/>
                </a:solidFill>
                <a:latin typeface="Calibri"/>
              </a:rPr>
              <a:t>source images
(archaeological photos)</a:t>
            </a:r>
          </a:p>
        </p:txBody>
      </p:sp>
      <p:sp>
        <p:nvSpPr>
          <p:cNvPr id="20" name="Rectangle 19"/>
          <p:cNvSpPr/>
          <p:nvPr/>
        </p:nvSpPr>
        <p:spPr>
          <a:xfrm>
            <a:off x="7543800" y="2331720"/>
            <a:ext cx="4160520" cy="7772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2377439"/>
            <a:ext cx="1188720" cy="685800"/>
          </a:xfrm>
          <a:prstGeom prst="rect">
            <a:avLst/>
          </a:prstGeom>
          <a:noFill/>
        </p:spPr>
        <p:txBody>
          <a:bodyPr wrap="square">
            <a:spAutoFit/>
          </a:bodyPr>
          <a:lstStyle/>
          <a:p>
            <a:pPr algn="r"/>
            <a:r>
              <a:rPr sz="2600" b="1" i="0">
                <a:solidFill>
                  <a:srgbClr val="B85042"/>
                </a:solidFill>
                <a:latin typeface="Calibri"/>
              </a:rPr>
              <a:t>6 – 8</a:t>
            </a:r>
          </a:p>
        </p:txBody>
      </p:sp>
      <p:sp>
        <p:nvSpPr>
          <p:cNvPr id="22" name="TextBox 21"/>
          <p:cNvSpPr txBox="1"/>
          <p:nvPr/>
        </p:nvSpPr>
        <p:spPr>
          <a:xfrm>
            <a:off x="8869680" y="2377439"/>
            <a:ext cx="2743200" cy="685800"/>
          </a:xfrm>
          <a:prstGeom prst="rect">
            <a:avLst/>
          </a:prstGeom>
          <a:noFill/>
        </p:spPr>
        <p:txBody>
          <a:bodyPr wrap="square">
            <a:spAutoFit/>
          </a:bodyPr>
          <a:lstStyle/>
          <a:p>
            <a:pPr algn="l"/>
            <a:r>
              <a:rPr sz="1200" b="0" i="0">
                <a:solidFill>
                  <a:srgbClr val="5C3D1E"/>
                </a:solidFill>
                <a:latin typeface="Calibri"/>
              </a:rPr>
              <a:t>fragments per image
(1 always dropped)</a:t>
            </a:r>
          </a:p>
        </p:txBody>
      </p:sp>
      <p:sp>
        <p:nvSpPr>
          <p:cNvPr id="23" name="Rectangle 22"/>
          <p:cNvSpPr/>
          <p:nvPr/>
        </p:nvSpPr>
        <p:spPr>
          <a:xfrm>
            <a:off x="7543800" y="3200400"/>
            <a:ext cx="4160520" cy="7772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0" y="3246120"/>
            <a:ext cx="1188720" cy="685800"/>
          </a:xfrm>
          <a:prstGeom prst="rect">
            <a:avLst/>
          </a:prstGeom>
          <a:noFill/>
        </p:spPr>
        <p:txBody>
          <a:bodyPr wrap="square">
            <a:spAutoFit/>
          </a:bodyPr>
          <a:lstStyle/>
          <a:p>
            <a:pPr algn="r"/>
            <a:r>
              <a:rPr sz="2600" b="1" i="0">
                <a:solidFill>
                  <a:srgbClr val="B85042"/>
                </a:solidFill>
                <a:latin typeface="Calibri"/>
              </a:rPr>
              <a:t>~30%</a:t>
            </a:r>
          </a:p>
        </p:txBody>
      </p:sp>
      <p:sp>
        <p:nvSpPr>
          <p:cNvPr id="25" name="TextBox 24"/>
          <p:cNvSpPr txBox="1"/>
          <p:nvPr/>
        </p:nvSpPr>
        <p:spPr>
          <a:xfrm>
            <a:off x="8869680" y="3246120"/>
            <a:ext cx="2743200" cy="685800"/>
          </a:xfrm>
          <a:prstGeom prst="rect">
            <a:avLst/>
          </a:prstGeom>
          <a:noFill/>
        </p:spPr>
        <p:txBody>
          <a:bodyPr wrap="square">
            <a:spAutoFit/>
          </a:bodyPr>
          <a:lstStyle/>
          <a:p>
            <a:pPr algn="l"/>
            <a:r>
              <a:rPr sz="1200" b="0" i="0">
                <a:solidFill>
                  <a:srgbClr val="5C3D1E"/>
                </a:solidFill>
                <a:latin typeface="Calibri"/>
              </a:rPr>
              <a:t>fragments with
erosion damage</a:t>
            </a:r>
          </a:p>
        </p:txBody>
      </p:sp>
      <p:sp>
        <p:nvSpPr>
          <p:cNvPr id="26" name="Rectangle 25"/>
          <p:cNvSpPr/>
          <p:nvPr/>
        </p:nvSpPr>
        <p:spPr>
          <a:xfrm>
            <a:off x="7543800" y="4069080"/>
            <a:ext cx="4160520" cy="7772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0" y="4114800"/>
            <a:ext cx="1188720" cy="685800"/>
          </a:xfrm>
          <a:prstGeom prst="rect">
            <a:avLst/>
          </a:prstGeom>
          <a:noFill/>
        </p:spPr>
        <p:txBody>
          <a:bodyPr wrap="square">
            <a:spAutoFit/>
          </a:bodyPr>
          <a:lstStyle/>
          <a:p>
            <a:pPr algn="r"/>
            <a:r>
              <a:rPr sz="2600" b="1" i="0">
                <a:solidFill>
                  <a:srgbClr val="B85042"/>
                </a:solidFill>
                <a:latin typeface="Calibri"/>
              </a:rPr>
              <a:t>9</a:t>
            </a:r>
          </a:p>
        </p:txBody>
      </p:sp>
      <p:sp>
        <p:nvSpPr>
          <p:cNvPr id="28" name="TextBox 27"/>
          <p:cNvSpPr txBox="1"/>
          <p:nvPr/>
        </p:nvSpPr>
        <p:spPr>
          <a:xfrm>
            <a:off x="8869680" y="4114800"/>
            <a:ext cx="2743200" cy="685800"/>
          </a:xfrm>
          <a:prstGeom prst="rect">
            <a:avLst/>
          </a:prstGeom>
          <a:noFill/>
        </p:spPr>
        <p:txBody>
          <a:bodyPr wrap="square">
            <a:spAutoFit/>
          </a:bodyPr>
          <a:lstStyle/>
          <a:p>
            <a:pPr algn="l"/>
            <a:r>
              <a:rPr sz="1200" b="0" i="0">
                <a:solidFill>
                  <a:srgbClr val="5C3D1E"/>
                </a:solidFill>
                <a:latin typeface="Calibri"/>
              </a:rPr>
              <a:t>positive test cases
(same-image fragments)</a:t>
            </a:r>
          </a:p>
        </p:txBody>
      </p:sp>
      <p:sp>
        <p:nvSpPr>
          <p:cNvPr id="29" name="Rectangle 28"/>
          <p:cNvSpPr/>
          <p:nvPr/>
        </p:nvSpPr>
        <p:spPr>
          <a:xfrm>
            <a:off x="7543800" y="4937760"/>
            <a:ext cx="4160520" cy="7772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0" y="4983480"/>
            <a:ext cx="1188720" cy="685800"/>
          </a:xfrm>
          <a:prstGeom prst="rect">
            <a:avLst/>
          </a:prstGeom>
          <a:noFill/>
        </p:spPr>
        <p:txBody>
          <a:bodyPr wrap="square">
            <a:spAutoFit/>
          </a:bodyPr>
          <a:lstStyle/>
          <a:p>
            <a:pPr algn="r"/>
            <a:r>
              <a:rPr sz="2600" b="1" i="0">
                <a:solidFill>
                  <a:srgbClr val="B85042"/>
                </a:solidFill>
                <a:latin typeface="Calibri"/>
              </a:rPr>
              <a:t>36</a:t>
            </a:r>
          </a:p>
        </p:txBody>
      </p:sp>
      <p:sp>
        <p:nvSpPr>
          <p:cNvPr id="31" name="TextBox 30"/>
          <p:cNvSpPr txBox="1"/>
          <p:nvPr/>
        </p:nvSpPr>
        <p:spPr>
          <a:xfrm>
            <a:off x="8869680" y="4983480"/>
            <a:ext cx="2743200" cy="685800"/>
          </a:xfrm>
          <a:prstGeom prst="rect">
            <a:avLst/>
          </a:prstGeom>
          <a:noFill/>
        </p:spPr>
        <p:txBody>
          <a:bodyPr wrap="square">
            <a:spAutoFit/>
          </a:bodyPr>
          <a:lstStyle/>
          <a:p>
            <a:pPr algn="l"/>
            <a:r>
              <a:rPr sz="1200" b="0" i="0">
                <a:solidFill>
                  <a:srgbClr val="5C3D1E"/>
                </a:solidFill>
                <a:latin typeface="Calibri"/>
              </a:rPr>
              <a:t>negative test cases
(mixed-image fragments)</a:t>
            </a:r>
          </a:p>
        </p:txBody>
      </p:sp>
      <p:sp>
        <p:nvSpPr>
          <p:cNvPr id="32" name="Rectangle 31"/>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Test Case Design — Positive &amp; Negative</a:t>
            </a:r>
          </a:p>
        </p:txBody>
      </p:sp>
      <p:sp>
        <p:nvSpPr>
          <p:cNvPr id="5" name="Rectangle 4"/>
          <p:cNvSpPr/>
          <p:nvPr/>
        </p:nvSpPr>
        <p:spPr>
          <a:xfrm>
            <a:off x="320040" y="960120"/>
            <a:ext cx="5486400" cy="51206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60120"/>
            <a:ext cx="5486400" cy="45720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78408"/>
            <a:ext cx="5212080" cy="384048"/>
          </a:xfrm>
          <a:prstGeom prst="rect">
            <a:avLst/>
          </a:prstGeom>
          <a:noFill/>
        </p:spPr>
        <p:txBody>
          <a:bodyPr wrap="square">
            <a:spAutoFit/>
          </a:bodyPr>
          <a:lstStyle/>
          <a:p>
            <a:pPr algn="l"/>
            <a:r>
              <a:rPr sz="1600" b="1" i="0">
                <a:solidFill>
                  <a:srgbClr val="FAF7F2"/>
                </a:solidFill>
                <a:latin typeface="Calibri"/>
              </a:rPr>
              <a:t>✓  POSITIVE cases  (9 total)</a:t>
            </a:r>
          </a:p>
        </p:txBody>
      </p:sp>
      <p:sp>
        <p:nvSpPr>
          <p:cNvPr id="8" name="TextBox 7"/>
          <p:cNvSpPr txBox="1"/>
          <p:nvPr/>
        </p:nvSpPr>
        <p:spPr>
          <a:xfrm>
            <a:off x="457200" y="1554480"/>
            <a:ext cx="5212080" cy="2743200"/>
          </a:xfrm>
          <a:prstGeom prst="rect">
            <a:avLst/>
          </a:prstGeom>
          <a:noFill/>
        </p:spPr>
        <p:txBody>
          <a:bodyPr wrap="square">
            <a:spAutoFit/>
          </a:bodyPr>
          <a:lstStyle/>
          <a:p>
            <a:pPr marL="228600" indent="-228600">
              <a:spcAft>
                <a:spcPts val="400"/>
              </a:spcAft>
              <a:buChar char="•"/>
            </a:pPr>
            <a:r>
              <a:rPr sz="1500" b="0">
                <a:solidFill>
                  <a:srgbClr val="5C3D1E"/>
                </a:solidFill>
                <a:latin typeface="Calibri"/>
              </a:rPr>
              <a:t>All fragments come from the SAME source image.</a:t>
            </a:r>
          </a:p>
          <a:p>
            <a:pPr marL="228600" indent="-228600">
              <a:spcAft>
                <a:spcPts val="400"/>
              </a:spcAft>
              <a:buChar char="•"/>
            </a:pPr>
            <a:r>
              <a:rPr sz="1500" b="0">
                <a:solidFill>
                  <a:srgbClr val="5C3D1E"/>
                </a:solidFill>
                <a:latin typeface="Calibri"/>
              </a:rPr>
              <a:t>1 fragment is always dropped (missing piece).</a:t>
            </a:r>
          </a:p>
          <a:p>
            <a:pPr marL="228600" indent="-228600">
              <a:spcAft>
                <a:spcPts val="400"/>
              </a:spcAft>
              <a:buChar char="•"/>
            </a:pPr>
            <a:r>
              <a:rPr sz="1500" b="0">
                <a:solidFill>
                  <a:srgbClr val="5C3D1E"/>
                </a:solidFill>
                <a:latin typeface="Calibri"/>
              </a:rPr>
              <a:t>~30% of fragments have erosion damage.</a:t>
            </a:r>
          </a:p>
          <a:p>
            <a:pPr marL="228600" indent="-228600">
              <a:spcAft>
                <a:spcPts val="400"/>
              </a:spcAft>
              <a:buChar char="•"/>
            </a:pPr>
            <a:r>
              <a:rPr sz="1500" b="0">
                <a:solidFill>
                  <a:srgbClr val="5C3D1E"/>
                </a:solidFill>
                <a:latin typeface="Calibri"/>
              </a:rPr>
              <a:t>Expected verdict: MATCH or WEAK MATCH</a:t>
            </a:r>
          </a:p>
          <a:p>
            <a:pPr marL="228600" indent="-228600">
              <a:spcAft>
                <a:spcPts val="400"/>
              </a:spcAft>
              <a:buChar char="•"/>
            </a:pPr>
            <a:r>
              <a:rPr sz="1500" b="0">
                <a:solidFill>
                  <a:srgbClr val="5C3D1E"/>
                </a:solidFill>
                <a:latin typeface="Calibri"/>
              </a:rPr>
              <a:t>Result: 9 / 9 (100%) pass rate</a:t>
            </a:r>
          </a:p>
        </p:txBody>
      </p:sp>
      <p:sp>
        <p:nvSpPr>
          <p:cNvPr id="9" name="Rectangle 8"/>
          <p:cNvSpPr/>
          <p:nvPr/>
        </p:nvSpPr>
        <p:spPr>
          <a:xfrm>
            <a:off x="320040" y="4389120"/>
            <a:ext cx="5486400" cy="1554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416552"/>
            <a:ext cx="914400" cy="320040"/>
          </a:xfrm>
          <a:prstGeom prst="rect">
            <a:avLst/>
          </a:prstGeom>
          <a:noFill/>
        </p:spPr>
        <p:txBody>
          <a:bodyPr wrap="square">
            <a:spAutoFit/>
          </a:bodyPr>
          <a:lstStyle/>
          <a:p>
            <a:pPr algn="l"/>
            <a:r>
              <a:rPr sz="1100" b="1" i="0">
                <a:solidFill>
                  <a:srgbClr val="B85042"/>
                </a:solidFill>
                <a:latin typeface="Calibri"/>
              </a:rPr>
              <a:t>Example</a:t>
            </a:r>
          </a:p>
        </p:txBody>
      </p:sp>
      <p:sp>
        <p:nvSpPr>
          <p:cNvPr id="11" name="TextBox 10"/>
          <p:cNvSpPr txBox="1"/>
          <p:nvPr/>
        </p:nvSpPr>
        <p:spPr>
          <a:xfrm>
            <a:off x="457200" y="4709160"/>
            <a:ext cx="5212080" cy="1097280"/>
          </a:xfrm>
          <a:prstGeom prst="rect">
            <a:avLst/>
          </a:prstGeom>
          <a:noFill/>
        </p:spPr>
        <p:txBody>
          <a:bodyPr wrap="square">
            <a:spAutoFit/>
          </a:bodyPr>
          <a:lstStyle/>
          <a:p>
            <a:pPr algn="l"/>
            <a:r>
              <a:rPr sz="1300" b="0" i="0">
                <a:solidFill>
                  <a:srgbClr val="5C3D1E"/>
                </a:solidFill>
                <a:latin typeface="Calibri"/>
              </a:rPr>
              <a:t>scroll/  →  6 fragments from one
photograph of an ancient scroll,
1 fragment omitted at random.</a:t>
            </a:r>
          </a:p>
        </p:txBody>
      </p:sp>
      <p:sp>
        <p:nvSpPr>
          <p:cNvPr id="12" name="Rectangle 11"/>
          <p:cNvSpPr/>
          <p:nvPr/>
        </p:nvSpPr>
        <p:spPr>
          <a:xfrm>
            <a:off x="6126480" y="960120"/>
            <a:ext cx="5742432" cy="51206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960120"/>
            <a:ext cx="5742432" cy="4572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978408"/>
            <a:ext cx="5486400" cy="384048"/>
          </a:xfrm>
          <a:prstGeom prst="rect">
            <a:avLst/>
          </a:prstGeom>
          <a:noFill/>
        </p:spPr>
        <p:txBody>
          <a:bodyPr wrap="square">
            <a:spAutoFit/>
          </a:bodyPr>
          <a:lstStyle/>
          <a:p>
            <a:pPr algn="l"/>
            <a:r>
              <a:rPr sz="1600" b="1" i="0">
                <a:solidFill>
                  <a:srgbClr val="FAF7F2"/>
                </a:solidFill>
                <a:latin typeface="Calibri"/>
              </a:rPr>
              <a:t>✗  NEGATIVE cases  (36 total)</a:t>
            </a:r>
          </a:p>
        </p:txBody>
      </p:sp>
      <p:sp>
        <p:nvSpPr>
          <p:cNvPr id="15" name="TextBox 14"/>
          <p:cNvSpPr txBox="1"/>
          <p:nvPr/>
        </p:nvSpPr>
        <p:spPr>
          <a:xfrm>
            <a:off x="6263640" y="1554480"/>
            <a:ext cx="5486400" cy="2743200"/>
          </a:xfrm>
          <a:prstGeom prst="rect">
            <a:avLst/>
          </a:prstGeom>
          <a:noFill/>
        </p:spPr>
        <p:txBody>
          <a:bodyPr wrap="square">
            <a:spAutoFit/>
          </a:bodyPr>
          <a:lstStyle/>
          <a:p>
            <a:pPr marL="228600" indent="-228600">
              <a:spcAft>
                <a:spcPts val="400"/>
              </a:spcAft>
              <a:buChar char="•"/>
            </a:pPr>
            <a:r>
              <a:rPr sz="1500" b="0">
                <a:solidFill>
                  <a:srgbClr val="5C3D1E"/>
                </a:solidFill>
                <a:latin typeface="Calibri"/>
              </a:rPr>
              <a:t>Fragments come from TWO DIFFERENT source images (half and half).</a:t>
            </a:r>
          </a:p>
          <a:p>
            <a:pPr marL="228600" indent="-228600">
              <a:spcAft>
                <a:spcPts val="400"/>
              </a:spcAft>
              <a:buChar char="•"/>
            </a:pPr>
            <a:r>
              <a:rPr sz="1500" b="0">
                <a:solidFill>
                  <a:srgbClr val="5C3D1E"/>
                </a:solidFill>
                <a:latin typeface="Calibri"/>
              </a:rPr>
              <a:t>Expected verdict: NO MATCH</a:t>
            </a:r>
          </a:p>
          <a:p>
            <a:pPr marL="228600" indent="-228600">
              <a:spcAft>
                <a:spcPts val="400"/>
              </a:spcAft>
              <a:buChar char="•"/>
            </a:pPr>
            <a:r>
              <a:rPr sz="1500" b="0">
                <a:solidFill>
                  <a:srgbClr val="5C3D1E"/>
                </a:solidFill>
                <a:latin typeface="Calibri"/>
              </a:rPr>
              <a:t>Detected via bimodal color distribution check.</a:t>
            </a:r>
          </a:p>
          <a:p>
            <a:pPr marL="228600" indent="-228600">
              <a:spcAft>
                <a:spcPts val="400"/>
              </a:spcAft>
              <a:buChar char="•"/>
            </a:pPr>
            <a:r>
              <a:rPr sz="1500" b="0">
                <a:solidFill>
                  <a:srgbClr val="5C3D1E"/>
                </a:solidFill>
                <a:latin typeface="Calibri"/>
              </a:rPr>
              <a:t>Result: 19 / 36 (53%) pass rate</a:t>
            </a:r>
          </a:p>
          <a:p>
            <a:pPr marL="228600" indent="-228600">
              <a:spcAft>
                <a:spcPts val="400"/>
              </a:spcAft>
              <a:buChar char="•"/>
            </a:pPr>
            <a:r>
              <a:rPr sz="1500" b="0">
                <a:solidFill>
                  <a:srgbClr val="5C3D1E"/>
                </a:solidFill>
                <a:latin typeface="Calibri"/>
              </a:rPr>
              <a:t>Failures: image pairs with very similar color palettes.</a:t>
            </a:r>
          </a:p>
        </p:txBody>
      </p:sp>
      <p:sp>
        <p:nvSpPr>
          <p:cNvPr id="16" name="Rectangle 15"/>
          <p:cNvSpPr/>
          <p:nvPr/>
        </p:nvSpPr>
        <p:spPr>
          <a:xfrm>
            <a:off x="6126480" y="4389120"/>
            <a:ext cx="5742432" cy="1554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4416552"/>
            <a:ext cx="914400" cy="320040"/>
          </a:xfrm>
          <a:prstGeom prst="rect">
            <a:avLst/>
          </a:prstGeom>
          <a:noFill/>
        </p:spPr>
        <p:txBody>
          <a:bodyPr wrap="square">
            <a:spAutoFit/>
          </a:bodyPr>
          <a:lstStyle/>
          <a:p>
            <a:pPr algn="l"/>
            <a:r>
              <a:rPr sz="1100" b="1" i="0">
                <a:solidFill>
                  <a:srgbClr val="B85042"/>
                </a:solidFill>
                <a:latin typeface="Calibri"/>
              </a:rPr>
              <a:t>Example</a:t>
            </a:r>
          </a:p>
        </p:txBody>
      </p:sp>
      <p:sp>
        <p:nvSpPr>
          <p:cNvPr id="18" name="TextBox 17"/>
          <p:cNvSpPr txBox="1"/>
          <p:nvPr/>
        </p:nvSpPr>
        <p:spPr>
          <a:xfrm>
            <a:off x="6263640" y="4709160"/>
            <a:ext cx="5486400" cy="1097280"/>
          </a:xfrm>
          <a:prstGeom prst="rect">
            <a:avLst/>
          </a:prstGeom>
          <a:noFill/>
        </p:spPr>
        <p:txBody>
          <a:bodyPr wrap="square">
            <a:spAutoFit/>
          </a:bodyPr>
          <a:lstStyle/>
          <a:p>
            <a:pPr algn="l"/>
            <a:r>
              <a:rPr sz="1300" b="0" i="0">
                <a:solidFill>
                  <a:srgbClr val="5C3D1E"/>
                </a:solidFill>
                <a:latin typeface="Calibri"/>
              </a:rPr>
              <a:t>mixed_scroll_shard_01/  →  3 fragments
from a scroll + 3 from a pottery shard.
Color histograms are very different → NO MATCH in 0.2 s.</a:t>
            </a:r>
          </a:p>
        </p:txBody>
      </p:sp>
      <p:sp>
        <p:nvSpPr>
          <p:cNvPr id="19" name="Rectangle 18"/>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Stage 1 — Preprocessing</a:t>
            </a:r>
          </a:p>
        </p:txBody>
      </p:sp>
      <p:sp>
        <p:nvSpPr>
          <p:cNvPr id="5" name="Rectangle 4"/>
          <p:cNvSpPr/>
          <p:nvPr/>
        </p:nvSpPr>
        <p:spPr>
          <a:xfrm>
            <a:off x="9601200" y="201168"/>
            <a:ext cx="2286000" cy="38404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219456"/>
            <a:ext cx="2194560" cy="347472"/>
          </a:xfrm>
          <a:prstGeom prst="rect">
            <a:avLst/>
          </a:prstGeom>
          <a:noFill/>
        </p:spPr>
        <p:txBody>
          <a:bodyPr wrap="square">
            <a:spAutoFit/>
          </a:bodyPr>
          <a:lstStyle/>
          <a:p>
            <a:pPr algn="ctr"/>
            <a:r>
              <a:rPr sz="1100" b="1" i="0">
                <a:solidFill>
                  <a:srgbClr val="FAF7F2"/>
                </a:solidFill>
                <a:latin typeface="Calibri"/>
              </a:rPr>
              <a:t>Lectures 22 &amp; 23</a:t>
            </a:r>
          </a:p>
        </p:txBody>
      </p:sp>
      <p:sp>
        <p:nvSpPr>
          <p:cNvPr id="7" name="Rectangle 6"/>
          <p:cNvSpPr/>
          <p:nvPr/>
        </p:nvSpPr>
        <p:spPr>
          <a:xfrm>
            <a:off x="320040" y="960120"/>
            <a:ext cx="73152"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960120"/>
            <a:ext cx="5029200" cy="320040"/>
          </a:xfrm>
          <a:prstGeom prst="rect">
            <a:avLst/>
          </a:prstGeom>
          <a:noFill/>
        </p:spPr>
        <p:txBody>
          <a:bodyPr wrap="square">
            <a:spAutoFit/>
          </a:bodyPr>
          <a:lstStyle/>
          <a:p>
            <a:pPr algn="l"/>
            <a:r>
              <a:rPr sz="1400" b="1" i="0">
                <a:solidFill>
                  <a:srgbClr val="5C3D1E"/>
                </a:solidFill>
                <a:latin typeface="Calibri"/>
              </a:rPr>
              <a:t>Load</a:t>
            </a:r>
          </a:p>
        </p:txBody>
      </p:sp>
      <p:sp>
        <p:nvSpPr>
          <p:cNvPr id="9" name="TextBox 8"/>
          <p:cNvSpPr txBox="1"/>
          <p:nvPr/>
        </p:nvSpPr>
        <p:spPr>
          <a:xfrm>
            <a:off x="502920" y="1261872"/>
            <a:ext cx="5029200" cy="457200"/>
          </a:xfrm>
          <a:prstGeom prst="rect">
            <a:avLst/>
          </a:prstGeom>
          <a:noFill/>
        </p:spPr>
        <p:txBody>
          <a:bodyPr wrap="square">
            <a:spAutoFit/>
          </a:bodyPr>
          <a:lstStyle/>
          <a:p>
            <a:pPr algn="l"/>
            <a:r>
              <a:rPr sz="1200" b="0" i="0">
                <a:solidFill>
                  <a:srgbClr val="9E866E"/>
                </a:solidFill>
                <a:latin typeface="Calibri"/>
              </a:rPr>
              <a:t>Read RGBA image; convert alpha channel to binary mask if present.</a:t>
            </a:r>
          </a:p>
        </p:txBody>
      </p:sp>
      <p:sp>
        <p:nvSpPr>
          <p:cNvPr id="10" name="Rectangle 9"/>
          <p:cNvSpPr/>
          <p:nvPr/>
        </p:nvSpPr>
        <p:spPr>
          <a:xfrm>
            <a:off x="320040" y="1920240"/>
            <a:ext cx="73152"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20240"/>
            <a:ext cx="5029200" cy="320040"/>
          </a:xfrm>
          <a:prstGeom prst="rect">
            <a:avLst/>
          </a:prstGeom>
          <a:noFill/>
        </p:spPr>
        <p:txBody>
          <a:bodyPr wrap="square">
            <a:spAutoFit/>
          </a:bodyPr>
          <a:lstStyle/>
          <a:p>
            <a:pPr algn="l"/>
            <a:r>
              <a:rPr sz="1400" b="1" i="0">
                <a:solidFill>
                  <a:srgbClr val="5C3D1E"/>
                </a:solidFill>
                <a:latin typeface="Calibri"/>
              </a:rPr>
              <a:t>Gaussian Blur</a:t>
            </a:r>
          </a:p>
        </p:txBody>
      </p:sp>
      <p:sp>
        <p:nvSpPr>
          <p:cNvPr id="12" name="TextBox 11"/>
          <p:cNvSpPr txBox="1"/>
          <p:nvPr/>
        </p:nvSpPr>
        <p:spPr>
          <a:xfrm>
            <a:off x="502920" y="2221992"/>
            <a:ext cx="5029200" cy="457200"/>
          </a:xfrm>
          <a:prstGeom prst="rect">
            <a:avLst/>
          </a:prstGeom>
          <a:noFill/>
        </p:spPr>
        <p:txBody>
          <a:bodyPr wrap="square">
            <a:spAutoFit/>
          </a:bodyPr>
          <a:lstStyle/>
          <a:p>
            <a:pPr algn="l"/>
            <a:r>
              <a:rPr sz="1200" b="0" i="0">
                <a:solidFill>
                  <a:srgbClr val="9E866E"/>
                </a:solidFill>
                <a:latin typeface="Calibri"/>
              </a:rPr>
              <a:t>Apply Gaussian kernel (σ=1.5) to suppress noise before thresholding.
→  Lecture 22: linear filtering in frequency domain.</a:t>
            </a:r>
          </a:p>
        </p:txBody>
      </p:sp>
      <p:sp>
        <p:nvSpPr>
          <p:cNvPr id="13" name="Rectangle 12"/>
          <p:cNvSpPr/>
          <p:nvPr/>
        </p:nvSpPr>
        <p:spPr>
          <a:xfrm>
            <a:off x="320040" y="2880360"/>
            <a:ext cx="73152"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880360"/>
            <a:ext cx="5029200" cy="320040"/>
          </a:xfrm>
          <a:prstGeom prst="rect">
            <a:avLst/>
          </a:prstGeom>
          <a:noFill/>
        </p:spPr>
        <p:txBody>
          <a:bodyPr wrap="square">
            <a:spAutoFit/>
          </a:bodyPr>
          <a:lstStyle/>
          <a:p>
            <a:pPr algn="l"/>
            <a:r>
              <a:rPr sz="1400" b="1" i="0">
                <a:solidFill>
                  <a:srgbClr val="5C3D1E"/>
                </a:solidFill>
                <a:latin typeface="Calibri"/>
              </a:rPr>
              <a:t>Otsu Threshold</a:t>
            </a:r>
          </a:p>
        </p:txBody>
      </p:sp>
      <p:sp>
        <p:nvSpPr>
          <p:cNvPr id="15" name="TextBox 14"/>
          <p:cNvSpPr txBox="1"/>
          <p:nvPr/>
        </p:nvSpPr>
        <p:spPr>
          <a:xfrm>
            <a:off x="502920" y="3182112"/>
            <a:ext cx="5029200" cy="457200"/>
          </a:xfrm>
          <a:prstGeom prst="rect">
            <a:avLst/>
          </a:prstGeom>
          <a:noFill/>
        </p:spPr>
        <p:txBody>
          <a:bodyPr wrap="square">
            <a:spAutoFit/>
          </a:bodyPr>
          <a:lstStyle/>
          <a:p>
            <a:pPr algn="l"/>
            <a:r>
              <a:rPr sz="1200" b="0" i="0">
                <a:solidFill>
                  <a:srgbClr val="9E866E"/>
                </a:solidFill>
                <a:latin typeface="Calibri"/>
              </a:rPr>
              <a:t>Automatically find the optimal foreground/background split.
→  Maximizes inter-class variance of pixel intensities.</a:t>
            </a:r>
          </a:p>
        </p:txBody>
      </p:sp>
      <p:sp>
        <p:nvSpPr>
          <p:cNvPr id="16" name="Rectangle 15"/>
          <p:cNvSpPr/>
          <p:nvPr/>
        </p:nvSpPr>
        <p:spPr>
          <a:xfrm>
            <a:off x="320040" y="3840480"/>
            <a:ext cx="73152"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840480"/>
            <a:ext cx="5029200" cy="320040"/>
          </a:xfrm>
          <a:prstGeom prst="rect">
            <a:avLst/>
          </a:prstGeom>
          <a:noFill/>
        </p:spPr>
        <p:txBody>
          <a:bodyPr wrap="square">
            <a:spAutoFit/>
          </a:bodyPr>
          <a:lstStyle/>
          <a:p>
            <a:pPr algn="l"/>
            <a:r>
              <a:rPr sz="1400" b="1" i="0">
                <a:solidFill>
                  <a:srgbClr val="5C3D1E"/>
                </a:solidFill>
                <a:latin typeface="Calibri"/>
              </a:rPr>
              <a:t>findContours</a:t>
            </a:r>
          </a:p>
        </p:txBody>
      </p:sp>
      <p:sp>
        <p:nvSpPr>
          <p:cNvPr id="18" name="TextBox 17"/>
          <p:cNvSpPr txBox="1"/>
          <p:nvPr/>
        </p:nvSpPr>
        <p:spPr>
          <a:xfrm>
            <a:off x="502920" y="4142232"/>
            <a:ext cx="5029200" cy="457200"/>
          </a:xfrm>
          <a:prstGeom prst="rect">
            <a:avLst/>
          </a:prstGeom>
          <a:noFill/>
        </p:spPr>
        <p:txBody>
          <a:bodyPr wrap="square">
            <a:spAutoFit/>
          </a:bodyPr>
          <a:lstStyle/>
          <a:p>
            <a:pPr algn="l"/>
            <a:r>
              <a:rPr sz="1200" b="0" i="0">
                <a:solidFill>
                  <a:srgbClr val="9E866E"/>
                </a:solidFill>
                <a:latin typeface="Calibri"/>
              </a:rPr>
              <a:t>Extract the outer boundary chain from the binary mask.
→  Lecture 23: connects to Canny edge detection theory.</a:t>
            </a:r>
          </a:p>
        </p:txBody>
      </p:sp>
      <p:sp>
        <p:nvSpPr>
          <p:cNvPr id="19" name="Rectangle 18"/>
          <p:cNvSpPr/>
          <p:nvPr/>
        </p:nvSpPr>
        <p:spPr>
          <a:xfrm>
            <a:off x="320040" y="4800600"/>
            <a:ext cx="73152"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800600"/>
            <a:ext cx="5029200" cy="320040"/>
          </a:xfrm>
          <a:prstGeom prst="rect">
            <a:avLst/>
          </a:prstGeom>
          <a:noFill/>
        </p:spPr>
        <p:txBody>
          <a:bodyPr wrap="square">
            <a:spAutoFit/>
          </a:bodyPr>
          <a:lstStyle/>
          <a:p>
            <a:pPr algn="l"/>
            <a:r>
              <a:rPr sz="1400" b="1" i="0">
                <a:solidFill>
                  <a:srgbClr val="5C3D1E"/>
                </a:solidFill>
                <a:latin typeface="Calibri"/>
              </a:rPr>
              <a:t>Segment Split</a:t>
            </a:r>
          </a:p>
        </p:txBody>
      </p:sp>
      <p:sp>
        <p:nvSpPr>
          <p:cNvPr id="21" name="TextBox 20"/>
          <p:cNvSpPr txBox="1"/>
          <p:nvPr/>
        </p:nvSpPr>
        <p:spPr>
          <a:xfrm>
            <a:off x="502920" y="5102352"/>
            <a:ext cx="5029200" cy="457200"/>
          </a:xfrm>
          <a:prstGeom prst="rect">
            <a:avLst/>
          </a:prstGeom>
          <a:noFill/>
        </p:spPr>
        <p:txBody>
          <a:bodyPr wrap="square">
            <a:spAutoFit/>
          </a:bodyPr>
          <a:lstStyle/>
          <a:p>
            <a:pPr algn="l"/>
            <a:r>
              <a:rPr sz="1200" b="0" i="0">
                <a:solidFill>
                  <a:srgbClr val="9E866E"/>
                </a:solidFill>
                <a:latin typeface="Calibri"/>
              </a:rPr>
              <a:t>Divide each contour into 4 edge segments (top, right, bottom, left)
for pairwise comparison.</a:t>
            </a:r>
          </a:p>
        </p:txBody>
      </p:sp>
      <p:pic>
        <p:nvPicPr>
          <p:cNvPr id="22" name="Picture 21" descr="fragment_contours.png"/>
          <p:cNvPicPr>
            <a:picLocks noChangeAspect="1"/>
          </p:cNvPicPr>
          <p:nvPr/>
        </p:nvPicPr>
        <p:blipFill>
          <a:blip r:embed="rId2"/>
          <a:stretch>
            <a:fillRect/>
          </a:stretch>
        </p:blipFill>
        <p:spPr>
          <a:xfrm>
            <a:off x="5943600" y="914400"/>
            <a:ext cx="5852160" cy="4937760"/>
          </a:xfrm>
          <a:prstGeom prst="rect">
            <a:avLst/>
          </a:prstGeom>
        </p:spPr>
      </p:pic>
      <p:sp>
        <p:nvSpPr>
          <p:cNvPr id="23" name="TextBox 22"/>
          <p:cNvSpPr txBox="1"/>
          <p:nvPr/>
        </p:nvSpPr>
        <p:spPr>
          <a:xfrm>
            <a:off x="5943600" y="5852160"/>
            <a:ext cx="5852160" cy="320040"/>
          </a:xfrm>
          <a:prstGeom prst="rect">
            <a:avLst/>
          </a:prstGeom>
          <a:noFill/>
        </p:spPr>
        <p:txBody>
          <a:bodyPr wrap="square">
            <a:spAutoFit/>
          </a:bodyPr>
          <a:lstStyle/>
          <a:p>
            <a:pPr algn="ctr"/>
            <a:r>
              <a:rPr sz="1100" b="0" i="1">
                <a:solidFill>
                  <a:srgbClr val="9E866E"/>
                </a:solidFill>
                <a:latin typeface="Calibri"/>
              </a:rPr>
              <a:t>Extracted contours overlaid on fragment images</a:t>
            </a:r>
          </a:p>
        </p:txBody>
      </p:sp>
      <p:sp>
        <p:nvSpPr>
          <p:cNvPr id="24" name="Rectangle 23"/>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Stage 2 — Shape Encoding with Chain Code</a:t>
            </a:r>
          </a:p>
        </p:txBody>
      </p:sp>
      <p:sp>
        <p:nvSpPr>
          <p:cNvPr id="5" name="Rectangle 4"/>
          <p:cNvSpPr/>
          <p:nvPr/>
        </p:nvSpPr>
        <p:spPr>
          <a:xfrm>
            <a:off x="10515600" y="201168"/>
            <a:ext cx="1371600" cy="38404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61320" y="219456"/>
            <a:ext cx="1280160" cy="347472"/>
          </a:xfrm>
          <a:prstGeom prst="rect">
            <a:avLst/>
          </a:prstGeom>
          <a:noFill/>
        </p:spPr>
        <p:txBody>
          <a:bodyPr wrap="square">
            <a:spAutoFit/>
          </a:bodyPr>
          <a:lstStyle/>
          <a:p>
            <a:pPr algn="ctr"/>
            <a:r>
              <a:rPr sz="1100" b="1" i="0">
                <a:solidFill>
                  <a:srgbClr val="FAF7F2"/>
                </a:solidFill>
                <a:latin typeface="Calibri"/>
              </a:rPr>
              <a:t>Lecture 72</a:t>
            </a:r>
          </a:p>
        </p:txBody>
      </p:sp>
      <p:sp>
        <p:nvSpPr>
          <p:cNvPr id="7" name="TextBox 6"/>
          <p:cNvSpPr txBox="1"/>
          <p:nvPr/>
        </p:nvSpPr>
        <p:spPr>
          <a:xfrm>
            <a:off x="365760" y="914400"/>
            <a:ext cx="11430000" cy="594360"/>
          </a:xfrm>
          <a:prstGeom prst="rect">
            <a:avLst/>
          </a:prstGeom>
          <a:noFill/>
        </p:spPr>
        <p:txBody>
          <a:bodyPr wrap="square">
            <a:spAutoFit/>
          </a:bodyPr>
          <a:lstStyle/>
          <a:p>
            <a:pPr algn="l"/>
            <a:r>
              <a:rPr sz="1600" b="0" i="0">
                <a:solidFill>
                  <a:srgbClr val="5C3D1E"/>
                </a:solidFill>
                <a:latin typeface="Calibri"/>
              </a:rPr>
              <a:t>The key idea: represent each fragment boundary as a sequence of direction codes,
then compare sequences directly.</a:t>
            </a:r>
          </a:p>
        </p:txBody>
      </p:sp>
      <p:sp>
        <p:nvSpPr>
          <p:cNvPr id="8" name="Rectangle 7"/>
          <p:cNvSpPr/>
          <p:nvPr/>
        </p:nvSpPr>
        <p:spPr>
          <a:xfrm>
            <a:off x="320040" y="1645920"/>
            <a:ext cx="3794760" cy="41148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645920"/>
            <a:ext cx="3794760" cy="41148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664208"/>
            <a:ext cx="3566160" cy="365760"/>
          </a:xfrm>
          <a:prstGeom prst="rect">
            <a:avLst/>
          </a:prstGeom>
          <a:noFill/>
        </p:spPr>
        <p:txBody>
          <a:bodyPr wrap="square">
            <a:spAutoFit/>
          </a:bodyPr>
          <a:lstStyle/>
          <a:p>
            <a:pPr algn="l"/>
            <a:r>
              <a:rPr sz="1400" b="1" i="0">
                <a:solidFill>
                  <a:srgbClr val="FAF7F2"/>
                </a:solidFill>
                <a:latin typeface="Calibri"/>
              </a:rPr>
              <a:t>Freeman Chain Code</a:t>
            </a:r>
          </a:p>
        </p:txBody>
      </p:sp>
      <p:sp>
        <p:nvSpPr>
          <p:cNvPr id="11" name="TextBox 10"/>
          <p:cNvSpPr txBox="1"/>
          <p:nvPr/>
        </p:nvSpPr>
        <p:spPr>
          <a:xfrm>
            <a:off x="411479" y="2148840"/>
            <a:ext cx="3611880" cy="3200400"/>
          </a:xfrm>
          <a:prstGeom prst="rect">
            <a:avLst/>
          </a:prstGeom>
          <a:noFill/>
        </p:spPr>
        <p:txBody>
          <a:bodyPr wrap="square">
            <a:spAutoFit/>
          </a:bodyPr>
          <a:lstStyle/>
          <a:p>
            <a:pPr algn="l"/>
            <a:r>
              <a:rPr sz="1300" b="0" i="0">
                <a:solidFill>
                  <a:srgbClr val="5C3D1E"/>
                </a:solidFill>
                <a:latin typeface="Calibri"/>
              </a:rPr>
              <a:t>Walk along the contour pixel by pixel. At each step, record the direction
(0–7, 8-connected):
  3  2  1
  4  ○  0
  5  6  7
Result: a string of digits, e.g. "00711263…"</a:t>
            </a:r>
          </a:p>
        </p:txBody>
      </p:sp>
      <p:sp>
        <p:nvSpPr>
          <p:cNvPr id="12" name="Rectangle 11"/>
          <p:cNvSpPr/>
          <p:nvPr/>
        </p:nvSpPr>
        <p:spPr>
          <a:xfrm>
            <a:off x="411479" y="5532120"/>
            <a:ext cx="1645920" cy="2743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199" y="5550407"/>
            <a:ext cx="1554480" cy="237744"/>
          </a:xfrm>
          <a:prstGeom prst="rect">
            <a:avLst/>
          </a:prstGeom>
          <a:noFill/>
        </p:spPr>
        <p:txBody>
          <a:bodyPr wrap="square">
            <a:spAutoFit/>
          </a:bodyPr>
          <a:lstStyle/>
          <a:p>
            <a:pPr algn="ctr"/>
            <a:r>
              <a:rPr sz="1000" b="1" i="0">
                <a:solidFill>
                  <a:srgbClr val="FAF7F2"/>
                </a:solidFill>
                <a:latin typeface="Calibri"/>
              </a:rPr>
              <a:t>Lecture 72</a:t>
            </a:r>
          </a:p>
        </p:txBody>
      </p:sp>
      <p:sp>
        <p:nvSpPr>
          <p:cNvPr id="14" name="Rectangle 13"/>
          <p:cNvSpPr/>
          <p:nvPr/>
        </p:nvSpPr>
        <p:spPr>
          <a:xfrm>
            <a:off x="4297679" y="1645920"/>
            <a:ext cx="3794760" cy="41148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1645920"/>
            <a:ext cx="3794760" cy="41148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64208"/>
            <a:ext cx="3566160" cy="365760"/>
          </a:xfrm>
          <a:prstGeom prst="rect">
            <a:avLst/>
          </a:prstGeom>
          <a:noFill/>
        </p:spPr>
        <p:txBody>
          <a:bodyPr wrap="square">
            <a:spAutoFit/>
          </a:bodyPr>
          <a:lstStyle/>
          <a:p>
            <a:pPr algn="l"/>
            <a:r>
              <a:rPr sz="1400" b="1" i="0">
                <a:solidFill>
                  <a:srgbClr val="FAF7F2"/>
                </a:solidFill>
                <a:latin typeface="Calibri"/>
              </a:rPr>
              <a:t>Rotation Invariance</a:t>
            </a:r>
          </a:p>
        </p:txBody>
      </p:sp>
      <p:sp>
        <p:nvSpPr>
          <p:cNvPr id="17" name="TextBox 16"/>
          <p:cNvSpPr txBox="1"/>
          <p:nvPr/>
        </p:nvSpPr>
        <p:spPr>
          <a:xfrm>
            <a:off x="4389119" y="2148840"/>
            <a:ext cx="3611880" cy="3200400"/>
          </a:xfrm>
          <a:prstGeom prst="rect">
            <a:avLst/>
          </a:prstGeom>
          <a:noFill/>
        </p:spPr>
        <p:txBody>
          <a:bodyPr wrap="square">
            <a:spAutoFit/>
          </a:bodyPr>
          <a:lstStyle/>
          <a:p>
            <a:pPr algn="l"/>
            <a:r>
              <a:rPr sz="1300" b="0" i="0">
                <a:solidFill>
                  <a:srgbClr val="5C3D1E"/>
                </a:solidFill>
                <a:latin typeface="Calibri"/>
              </a:rPr>
              <a:t>PCA aligns each fragment to its principal axis before chain code extraction.
Cyclic-minimum normalization: find the lexicographically smallest rotation of the chain string.
Two boundaries are now comparable regardless of fragment orientation.</a:t>
            </a:r>
          </a:p>
        </p:txBody>
      </p:sp>
      <p:sp>
        <p:nvSpPr>
          <p:cNvPr id="18" name="Rectangle 17"/>
          <p:cNvSpPr/>
          <p:nvPr/>
        </p:nvSpPr>
        <p:spPr>
          <a:xfrm>
            <a:off x="4389119" y="5532120"/>
            <a:ext cx="1645920" cy="2743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39" y="5550407"/>
            <a:ext cx="1554480" cy="237744"/>
          </a:xfrm>
          <a:prstGeom prst="rect">
            <a:avLst/>
          </a:prstGeom>
          <a:noFill/>
        </p:spPr>
        <p:txBody>
          <a:bodyPr wrap="square">
            <a:spAutoFit/>
          </a:bodyPr>
          <a:lstStyle/>
          <a:p>
            <a:pPr algn="ctr"/>
            <a:r>
              <a:rPr sz="1000" b="1" i="0">
                <a:solidFill>
                  <a:srgbClr val="FAF7F2"/>
                </a:solidFill>
                <a:latin typeface="Calibri"/>
              </a:rPr>
              <a:t>Lect. 72 + 74</a:t>
            </a:r>
          </a:p>
        </p:txBody>
      </p:sp>
      <p:sp>
        <p:nvSpPr>
          <p:cNvPr id="20" name="Rectangle 19"/>
          <p:cNvSpPr/>
          <p:nvPr/>
        </p:nvSpPr>
        <p:spPr>
          <a:xfrm>
            <a:off x="8275319" y="1645920"/>
            <a:ext cx="3794760" cy="41148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19" y="1645920"/>
            <a:ext cx="3794760" cy="41148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59" y="1664208"/>
            <a:ext cx="3566160" cy="365760"/>
          </a:xfrm>
          <a:prstGeom prst="rect">
            <a:avLst/>
          </a:prstGeom>
          <a:noFill/>
        </p:spPr>
        <p:txBody>
          <a:bodyPr wrap="square">
            <a:spAutoFit/>
          </a:bodyPr>
          <a:lstStyle/>
          <a:p>
            <a:pPr algn="l"/>
            <a:r>
              <a:rPr sz="1400" b="1" i="0">
                <a:solidFill>
                  <a:srgbClr val="FAF7F2"/>
                </a:solidFill>
                <a:latin typeface="Calibri"/>
              </a:rPr>
              <a:t>Curvature Profile</a:t>
            </a:r>
          </a:p>
        </p:txBody>
      </p:sp>
      <p:sp>
        <p:nvSpPr>
          <p:cNvPr id="23" name="TextBox 22"/>
          <p:cNvSpPr txBox="1"/>
          <p:nvPr/>
        </p:nvSpPr>
        <p:spPr>
          <a:xfrm>
            <a:off x="8366759" y="2148840"/>
            <a:ext cx="3611880" cy="3200400"/>
          </a:xfrm>
          <a:prstGeom prst="rect">
            <a:avLst/>
          </a:prstGeom>
          <a:noFill/>
        </p:spPr>
        <p:txBody>
          <a:bodyPr wrap="square">
            <a:spAutoFit/>
          </a:bodyPr>
          <a:lstStyle/>
          <a:p>
            <a:pPr algn="l"/>
            <a:r>
              <a:rPr sz="1300" b="0" i="0">
                <a:solidFill>
                  <a:srgbClr val="5C3D1E"/>
                </a:solidFill>
                <a:latin typeface="Calibri"/>
              </a:rPr>
              <a:t>Compute finite differences along the chain to get a curvature profile (sequence of turn angles).
Curvature is more informative than raw chain codes for matching: it captures the shape of the break.</a:t>
            </a:r>
          </a:p>
        </p:txBody>
      </p:sp>
      <p:sp>
        <p:nvSpPr>
          <p:cNvPr id="24" name="Rectangle 23"/>
          <p:cNvSpPr/>
          <p:nvPr/>
        </p:nvSpPr>
        <p:spPr>
          <a:xfrm>
            <a:off x="8366759" y="5532120"/>
            <a:ext cx="1645920" cy="2743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5550407"/>
            <a:ext cx="1554480" cy="237744"/>
          </a:xfrm>
          <a:prstGeom prst="rect">
            <a:avLst/>
          </a:prstGeom>
          <a:noFill/>
        </p:spPr>
        <p:txBody>
          <a:bodyPr wrap="square">
            <a:spAutoFit/>
          </a:bodyPr>
          <a:lstStyle/>
          <a:p>
            <a:pPr algn="ctr"/>
            <a:r>
              <a:rPr sz="1000" b="1" i="0">
                <a:solidFill>
                  <a:srgbClr val="FAF7F2"/>
                </a:solidFill>
                <a:latin typeface="Calibri"/>
              </a:rPr>
              <a:t>Lecture 72</a:t>
            </a:r>
          </a:p>
        </p:txBody>
      </p:sp>
      <p:sp>
        <p:nvSpPr>
          <p:cNvPr id="26" name="Rectangle 25"/>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Stage 3 — Edge Compatibility Scoring</a:t>
            </a:r>
          </a:p>
        </p:txBody>
      </p:sp>
      <p:sp>
        <p:nvSpPr>
          <p:cNvPr id="5" name="Rectangle 4"/>
          <p:cNvSpPr/>
          <p:nvPr/>
        </p:nvSpPr>
        <p:spPr>
          <a:xfrm>
            <a:off x="8869680" y="201168"/>
            <a:ext cx="3017520" cy="38404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15400" y="219456"/>
            <a:ext cx="2926079" cy="347472"/>
          </a:xfrm>
          <a:prstGeom prst="rect">
            <a:avLst/>
          </a:prstGeom>
          <a:noFill/>
        </p:spPr>
        <p:txBody>
          <a:bodyPr wrap="square">
            <a:spAutoFit/>
          </a:bodyPr>
          <a:lstStyle/>
          <a:p>
            <a:pPr algn="ctr"/>
            <a:r>
              <a:rPr sz="1100" b="1" i="0">
                <a:solidFill>
                  <a:srgbClr val="FAF7F2"/>
                </a:solidFill>
                <a:latin typeface="Calibri"/>
              </a:rPr>
              <a:t>Lectures 23, 52, 72</a:t>
            </a:r>
          </a:p>
        </p:txBody>
      </p:sp>
      <p:sp>
        <p:nvSpPr>
          <p:cNvPr id="7" name="TextBox 6"/>
          <p:cNvSpPr txBox="1"/>
          <p:nvPr/>
        </p:nvSpPr>
        <p:spPr>
          <a:xfrm>
            <a:off x="365760" y="914400"/>
            <a:ext cx="6217920" cy="502920"/>
          </a:xfrm>
          <a:prstGeom prst="rect">
            <a:avLst/>
          </a:prstGeom>
          <a:noFill/>
        </p:spPr>
        <p:txBody>
          <a:bodyPr wrap="square">
            <a:spAutoFit/>
          </a:bodyPr>
          <a:lstStyle/>
          <a:p>
            <a:pPr algn="l"/>
            <a:r>
              <a:rPr sz="1500" b="0" i="0">
                <a:solidFill>
                  <a:srgbClr val="5C3D1E"/>
                </a:solidFill>
                <a:latin typeface="Calibri"/>
              </a:rPr>
              <a:t>For every pair of edge segments (one from each fragment), we compute a compatibility score in [0, 1].</a:t>
            </a:r>
          </a:p>
        </p:txBody>
      </p:sp>
      <p:sp>
        <p:nvSpPr>
          <p:cNvPr id="8" name="Rectangle 7"/>
          <p:cNvSpPr/>
          <p:nvPr/>
        </p:nvSpPr>
        <p:spPr>
          <a:xfrm>
            <a:off x="320040" y="1508760"/>
            <a:ext cx="73152" cy="82296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08760"/>
            <a:ext cx="5760720" cy="347472"/>
          </a:xfrm>
          <a:prstGeom prst="rect">
            <a:avLst/>
          </a:prstGeom>
          <a:noFill/>
        </p:spPr>
        <p:txBody>
          <a:bodyPr wrap="square">
            <a:spAutoFit/>
          </a:bodyPr>
          <a:lstStyle/>
          <a:p>
            <a:pPr algn="l"/>
            <a:r>
              <a:rPr sz="1300" b="1" i="0">
                <a:solidFill>
                  <a:srgbClr val="5C3D1E"/>
                </a:solidFill>
                <a:latin typeface="Calibri"/>
              </a:rPr>
              <a:t>Curvature cross-correlation (FFT)</a:t>
            </a:r>
          </a:p>
        </p:txBody>
      </p:sp>
      <p:sp>
        <p:nvSpPr>
          <p:cNvPr id="10" name="TextBox 9"/>
          <p:cNvSpPr txBox="1"/>
          <p:nvPr/>
        </p:nvSpPr>
        <p:spPr>
          <a:xfrm>
            <a:off x="502920" y="1856231"/>
            <a:ext cx="5760720" cy="548640"/>
          </a:xfrm>
          <a:prstGeom prst="rect">
            <a:avLst/>
          </a:prstGeom>
          <a:noFill/>
        </p:spPr>
        <p:txBody>
          <a:bodyPr wrap="square">
            <a:spAutoFit/>
          </a:bodyPr>
          <a:lstStyle/>
          <a:p>
            <a:pPr algn="l"/>
            <a:r>
              <a:rPr sz="1100" b="0" i="0">
                <a:solidFill>
                  <a:srgbClr val="9E866E"/>
                </a:solidFill>
                <a:latin typeface="Calibri"/>
              </a:rPr>
              <a:t>When two edges fit together, one curvature profile is the mirror-reverse of the other.
Correlate via FFT — rotation invariant and fast.  →  Lec. 23</a:t>
            </a:r>
          </a:p>
        </p:txBody>
      </p:sp>
      <p:sp>
        <p:nvSpPr>
          <p:cNvPr id="11" name="Rectangle 10"/>
          <p:cNvSpPr/>
          <p:nvPr/>
        </p:nvSpPr>
        <p:spPr>
          <a:xfrm>
            <a:off x="320040" y="2423160"/>
            <a:ext cx="73152" cy="82296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423160"/>
            <a:ext cx="5760720" cy="347472"/>
          </a:xfrm>
          <a:prstGeom prst="rect">
            <a:avLst/>
          </a:prstGeom>
          <a:noFill/>
        </p:spPr>
        <p:txBody>
          <a:bodyPr wrap="square">
            <a:spAutoFit/>
          </a:bodyPr>
          <a:lstStyle/>
          <a:p>
            <a:pPr algn="l"/>
            <a:r>
              <a:rPr sz="1300" b="1" i="0">
                <a:solidFill>
                  <a:srgbClr val="5C3D1E"/>
                </a:solidFill>
                <a:latin typeface="Calibri"/>
              </a:rPr>
              <a:t>Fourier descriptors</a:t>
            </a:r>
          </a:p>
        </p:txBody>
      </p:sp>
      <p:sp>
        <p:nvSpPr>
          <p:cNvPr id="13" name="TextBox 12"/>
          <p:cNvSpPr txBox="1"/>
          <p:nvPr/>
        </p:nvSpPr>
        <p:spPr>
          <a:xfrm>
            <a:off x="502920" y="2770632"/>
            <a:ext cx="5760720" cy="548640"/>
          </a:xfrm>
          <a:prstGeom prst="rect">
            <a:avLst/>
          </a:prstGeom>
          <a:noFill/>
        </p:spPr>
        <p:txBody>
          <a:bodyPr wrap="square">
            <a:spAutoFit/>
          </a:bodyPr>
          <a:lstStyle/>
          <a:p>
            <a:pPr algn="l"/>
            <a:r>
              <a:rPr sz="1100" b="0" i="0">
                <a:solidFill>
                  <a:srgbClr val="9E866E"/>
                </a:solidFill>
                <a:latin typeface="Calibri"/>
              </a:rPr>
              <a:t>Represent each segment shape in frequency domain. Low-frequency terms capture
global shape; high-frequency terms capture fine detail.  →  Lec. 72</a:t>
            </a:r>
          </a:p>
        </p:txBody>
      </p:sp>
      <p:sp>
        <p:nvSpPr>
          <p:cNvPr id="14" name="Rectangle 13"/>
          <p:cNvSpPr/>
          <p:nvPr/>
        </p:nvSpPr>
        <p:spPr>
          <a:xfrm>
            <a:off x="320040" y="3337560"/>
            <a:ext cx="73152" cy="82296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337560"/>
            <a:ext cx="5760720" cy="347472"/>
          </a:xfrm>
          <a:prstGeom prst="rect">
            <a:avLst/>
          </a:prstGeom>
          <a:noFill/>
        </p:spPr>
        <p:txBody>
          <a:bodyPr wrap="square">
            <a:spAutoFit/>
          </a:bodyPr>
          <a:lstStyle/>
          <a:p>
            <a:pPr algn="l"/>
            <a:r>
              <a:rPr sz="1300" b="1" i="0">
                <a:solidFill>
                  <a:srgbClr val="5C3D1E"/>
                </a:solidFill>
                <a:latin typeface="Calibri"/>
              </a:rPr>
              <a:t>Good continuation bonus</a:t>
            </a:r>
          </a:p>
        </p:txBody>
      </p:sp>
      <p:sp>
        <p:nvSpPr>
          <p:cNvPr id="16" name="TextBox 15"/>
          <p:cNvSpPr txBox="1"/>
          <p:nvPr/>
        </p:nvSpPr>
        <p:spPr>
          <a:xfrm>
            <a:off x="502920" y="3685032"/>
            <a:ext cx="5760720" cy="548640"/>
          </a:xfrm>
          <a:prstGeom prst="rect">
            <a:avLst/>
          </a:prstGeom>
          <a:noFill/>
        </p:spPr>
        <p:txBody>
          <a:bodyPr wrap="square">
            <a:spAutoFit/>
          </a:bodyPr>
          <a:lstStyle/>
          <a:p>
            <a:pPr algn="l"/>
            <a:r>
              <a:rPr sz="1100" b="0" i="0">
                <a:solidFill>
                  <a:srgbClr val="9E866E"/>
                </a:solidFill>
                <a:latin typeface="Calibri"/>
              </a:rPr>
              <a:t>If the joined boundary at the proposed match forms a smooth curve (low curvature
change), add a bonus.  →  Gestalt principle, Lec. 52</a:t>
            </a:r>
          </a:p>
        </p:txBody>
      </p:sp>
      <p:sp>
        <p:nvSpPr>
          <p:cNvPr id="17" name="Rectangle 16"/>
          <p:cNvSpPr/>
          <p:nvPr/>
        </p:nvSpPr>
        <p:spPr>
          <a:xfrm>
            <a:off x="320040" y="4251960"/>
            <a:ext cx="73152" cy="82296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251960"/>
            <a:ext cx="5760720" cy="347472"/>
          </a:xfrm>
          <a:prstGeom prst="rect">
            <a:avLst/>
          </a:prstGeom>
          <a:noFill/>
        </p:spPr>
        <p:txBody>
          <a:bodyPr wrap="square">
            <a:spAutoFit/>
          </a:bodyPr>
          <a:lstStyle/>
          <a:p>
            <a:pPr algn="l"/>
            <a:r>
              <a:rPr sz="1300" b="1" i="0">
                <a:solidFill>
                  <a:srgbClr val="5C3D1E"/>
                </a:solidFill>
                <a:latin typeface="Calibri"/>
              </a:rPr>
              <a:t>Final score</a:t>
            </a:r>
          </a:p>
        </p:txBody>
      </p:sp>
      <p:sp>
        <p:nvSpPr>
          <p:cNvPr id="19" name="TextBox 18"/>
          <p:cNvSpPr txBox="1"/>
          <p:nvPr/>
        </p:nvSpPr>
        <p:spPr>
          <a:xfrm>
            <a:off x="502920" y="4599432"/>
            <a:ext cx="5760720" cy="548640"/>
          </a:xfrm>
          <a:prstGeom prst="rect">
            <a:avLst/>
          </a:prstGeom>
          <a:noFill/>
        </p:spPr>
        <p:txBody>
          <a:bodyPr wrap="square">
            <a:spAutoFit/>
          </a:bodyPr>
          <a:lstStyle/>
          <a:p>
            <a:pPr algn="l"/>
            <a:r>
              <a:rPr sz="1100" b="0" i="0">
                <a:solidFill>
                  <a:srgbClr val="9E866E"/>
                </a:solidFill>
                <a:latin typeface="Calibri"/>
              </a:rPr>
              <a:t>score = α · curvature_sim + β · fourier_sim + γ · continuation_bonus
Normalized to [0, 1]. Stored in a 4D compatibility tensor (frag_i, edge_i, frag_j, edge_j).</a:t>
            </a:r>
          </a:p>
        </p:txBody>
      </p:sp>
      <p:pic>
        <p:nvPicPr>
          <p:cNvPr id="20" name="Picture 19" descr="compatibility_heatmap.png"/>
          <p:cNvPicPr>
            <a:picLocks noChangeAspect="1"/>
          </p:cNvPicPr>
          <p:nvPr/>
        </p:nvPicPr>
        <p:blipFill>
          <a:blip r:embed="rId2"/>
          <a:stretch>
            <a:fillRect/>
          </a:stretch>
        </p:blipFill>
        <p:spPr>
          <a:xfrm>
            <a:off x="6766560" y="914400"/>
            <a:ext cx="5029200" cy="4754880"/>
          </a:xfrm>
          <a:prstGeom prst="rect">
            <a:avLst/>
          </a:prstGeom>
        </p:spPr>
      </p:pic>
      <p:sp>
        <p:nvSpPr>
          <p:cNvPr id="21" name="TextBox 20"/>
          <p:cNvSpPr txBox="1"/>
          <p:nvPr/>
        </p:nvSpPr>
        <p:spPr>
          <a:xfrm>
            <a:off x="6766560" y="5669280"/>
            <a:ext cx="5029200" cy="320040"/>
          </a:xfrm>
          <a:prstGeom prst="rect">
            <a:avLst/>
          </a:prstGeom>
          <a:noFill/>
        </p:spPr>
        <p:txBody>
          <a:bodyPr wrap="square">
            <a:spAutoFit/>
          </a:bodyPr>
          <a:lstStyle/>
          <a:p>
            <a:pPr algn="ctr"/>
            <a:r>
              <a:rPr sz="1100" b="0" i="1">
                <a:solidFill>
                  <a:srgbClr val="9E866E"/>
                </a:solidFill>
                <a:latin typeface="Calibri"/>
              </a:rPr>
              <a:t>Compatibility heatmap — brighter = more compatible</a:t>
            </a:r>
          </a:p>
        </p:txBody>
      </p:sp>
      <p:sp>
        <p:nvSpPr>
          <p:cNvPr id="22" name="Rectangle 21"/>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Stage 4 — Color Pre-Check (Fast Rejection)</a:t>
            </a:r>
          </a:p>
        </p:txBody>
      </p:sp>
      <p:sp>
        <p:nvSpPr>
          <p:cNvPr id="5" name="Rectangle 4"/>
          <p:cNvSpPr/>
          <p:nvPr/>
        </p:nvSpPr>
        <p:spPr>
          <a:xfrm>
            <a:off x="10515600" y="201168"/>
            <a:ext cx="1371600" cy="38404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61320" y="219456"/>
            <a:ext cx="1280160" cy="347472"/>
          </a:xfrm>
          <a:prstGeom prst="rect">
            <a:avLst/>
          </a:prstGeom>
          <a:noFill/>
        </p:spPr>
        <p:txBody>
          <a:bodyPr wrap="square">
            <a:spAutoFit/>
          </a:bodyPr>
          <a:lstStyle/>
          <a:p>
            <a:pPr algn="ctr"/>
            <a:r>
              <a:rPr sz="1100" b="1" i="0">
                <a:solidFill>
                  <a:srgbClr val="FAF7F2"/>
                </a:solidFill>
                <a:latin typeface="Calibri"/>
              </a:rPr>
              <a:t>Lecture 71</a:t>
            </a:r>
          </a:p>
        </p:txBody>
      </p:sp>
      <p:sp>
        <p:nvSpPr>
          <p:cNvPr id="7" name="TextBox 6"/>
          <p:cNvSpPr txBox="1"/>
          <p:nvPr/>
        </p:nvSpPr>
        <p:spPr>
          <a:xfrm>
            <a:off x="365760" y="914400"/>
            <a:ext cx="11430000" cy="594360"/>
          </a:xfrm>
          <a:prstGeom prst="rect">
            <a:avLst/>
          </a:prstGeom>
          <a:noFill/>
        </p:spPr>
        <p:txBody>
          <a:bodyPr wrap="square">
            <a:spAutoFit/>
          </a:bodyPr>
          <a:lstStyle/>
          <a:p>
            <a:pPr algn="l"/>
            <a:r>
              <a:rPr sz="1600" b="0" i="0">
                <a:solidFill>
                  <a:srgbClr val="5C3D1E"/>
                </a:solidFill>
                <a:latin typeface="Calibri"/>
              </a:rPr>
              <a:t>Before running the expensive geometric pipeline, we ask: could these fragments
all come from the same image?</a:t>
            </a:r>
          </a:p>
        </p:txBody>
      </p:sp>
      <p:sp>
        <p:nvSpPr>
          <p:cNvPr id="8" name="Rectangle 7"/>
          <p:cNvSpPr/>
          <p:nvPr/>
        </p:nvSpPr>
        <p:spPr>
          <a:xfrm>
            <a:off x="320040" y="1645920"/>
            <a:ext cx="5303520" cy="4572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645920"/>
            <a:ext cx="5303520" cy="41148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64208"/>
            <a:ext cx="5029200" cy="365760"/>
          </a:xfrm>
          <a:prstGeom prst="rect">
            <a:avLst/>
          </a:prstGeom>
          <a:noFill/>
        </p:spPr>
        <p:txBody>
          <a:bodyPr wrap="square">
            <a:spAutoFit/>
          </a:bodyPr>
          <a:lstStyle/>
          <a:p>
            <a:pPr algn="l"/>
            <a:r>
              <a:rPr sz="1400" b="1" i="0">
                <a:solidFill>
                  <a:srgbClr val="FAF7F2"/>
                </a:solidFill>
                <a:latin typeface="Calibri"/>
              </a:rPr>
              <a:t>Algorithm</a:t>
            </a:r>
          </a:p>
        </p:txBody>
      </p:sp>
      <p:sp>
        <p:nvSpPr>
          <p:cNvPr id="11" name="TextBox 10"/>
          <p:cNvSpPr txBox="1"/>
          <p:nvPr/>
        </p:nvSpPr>
        <p:spPr>
          <a:xfrm>
            <a:off x="457200" y="2176272"/>
            <a:ext cx="5029200" cy="658368"/>
          </a:xfrm>
          <a:prstGeom prst="rect">
            <a:avLst/>
          </a:prstGeom>
          <a:noFill/>
        </p:spPr>
        <p:txBody>
          <a:bodyPr wrap="square">
            <a:spAutoFit/>
          </a:bodyPr>
          <a:lstStyle/>
          <a:p>
            <a:pPr algn="l"/>
            <a:r>
              <a:rPr sz="1200" b="0" i="0">
                <a:solidFill>
                  <a:srgbClr val="5C3D1E"/>
                </a:solidFill>
                <a:latin typeface="Calibri"/>
              </a:rPr>
              <a:t>1.  Compute a 16×4 HSV histogram for each fragment (Bhattacharyya coefficient).</a:t>
            </a:r>
          </a:p>
        </p:txBody>
      </p:sp>
      <p:sp>
        <p:nvSpPr>
          <p:cNvPr id="12" name="TextBox 11"/>
          <p:cNvSpPr txBox="1"/>
          <p:nvPr/>
        </p:nvSpPr>
        <p:spPr>
          <a:xfrm>
            <a:off x="457200" y="2862072"/>
            <a:ext cx="5029200" cy="658368"/>
          </a:xfrm>
          <a:prstGeom prst="rect">
            <a:avLst/>
          </a:prstGeom>
          <a:noFill/>
        </p:spPr>
        <p:txBody>
          <a:bodyPr wrap="square">
            <a:spAutoFit/>
          </a:bodyPr>
          <a:lstStyle/>
          <a:p>
            <a:pPr algn="l"/>
            <a:r>
              <a:rPr sz="1200" b="0" i="0">
                <a:solidFill>
                  <a:srgbClr val="5C3D1E"/>
                </a:solidFill>
                <a:latin typeface="Calibri"/>
              </a:rPr>
              <a:t>2.  Build an N×N matrix of pairwise histogram similarities.</a:t>
            </a:r>
          </a:p>
        </p:txBody>
      </p:sp>
      <p:sp>
        <p:nvSpPr>
          <p:cNvPr id="13" name="TextBox 12"/>
          <p:cNvSpPr txBox="1"/>
          <p:nvPr/>
        </p:nvSpPr>
        <p:spPr>
          <a:xfrm>
            <a:off x="457200" y="3547872"/>
            <a:ext cx="5029200" cy="658368"/>
          </a:xfrm>
          <a:prstGeom prst="rect">
            <a:avLst/>
          </a:prstGeom>
          <a:noFill/>
        </p:spPr>
        <p:txBody>
          <a:bodyPr wrap="square">
            <a:spAutoFit/>
          </a:bodyPr>
          <a:lstStyle/>
          <a:p>
            <a:pPr algn="l"/>
            <a:r>
              <a:rPr sz="1200" b="0" i="0">
                <a:solidFill>
                  <a:srgbClr val="5C3D1E"/>
                </a:solidFill>
                <a:latin typeface="Calibri"/>
              </a:rPr>
              <a:t>3.  Sort all pairwise values. Look for a large gap between consecutive values.</a:t>
            </a:r>
          </a:p>
        </p:txBody>
      </p:sp>
      <p:sp>
        <p:nvSpPr>
          <p:cNvPr id="14" name="TextBox 13"/>
          <p:cNvSpPr txBox="1"/>
          <p:nvPr/>
        </p:nvSpPr>
        <p:spPr>
          <a:xfrm>
            <a:off x="457200" y="4233672"/>
            <a:ext cx="5029200" cy="658368"/>
          </a:xfrm>
          <a:prstGeom prst="rect">
            <a:avLst/>
          </a:prstGeom>
          <a:noFill/>
        </p:spPr>
        <p:txBody>
          <a:bodyPr wrap="square">
            <a:spAutoFit/>
          </a:bodyPr>
          <a:lstStyle/>
          <a:p>
            <a:pPr algn="l"/>
            <a:r>
              <a:rPr sz="1200" b="0" i="0">
                <a:solidFill>
                  <a:srgbClr val="5C3D1E"/>
                </a:solidFill>
                <a:latin typeface="Calibri"/>
              </a:rPr>
              <a:t>4.  If gap ≥ 0.25 AND lower-group max ≤ 0.62:
      → bimodal distribution detected → two distinct sources → NO MATCH immediately.</a:t>
            </a:r>
          </a:p>
        </p:txBody>
      </p:sp>
      <p:sp>
        <p:nvSpPr>
          <p:cNvPr id="15" name="TextBox 14"/>
          <p:cNvSpPr txBox="1"/>
          <p:nvPr/>
        </p:nvSpPr>
        <p:spPr>
          <a:xfrm>
            <a:off x="457200" y="4919472"/>
            <a:ext cx="5029200" cy="658368"/>
          </a:xfrm>
          <a:prstGeom prst="rect">
            <a:avLst/>
          </a:prstGeom>
          <a:noFill/>
        </p:spPr>
        <p:txBody>
          <a:bodyPr wrap="square">
            <a:spAutoFit/>
          </a:bodyPr>
          <a:lstStyle/>
          <a:p>
            <a:pPr algn="l"/>
            <a:r>
              <a:rPr sz="1200" b="0" i="0">
                <a:solidFill>
                  <a:srgbClr val="5C3D1E"/>
                </a:solidFill>
                <a:latin typeface="Calibri"/>
              </a:rPr>
              <a:t>5.  Otherwise: pass to full geometric pipeline.</a:t>
            </a:r>
          </a:p>
        </p:txBody>
      </p:sp>
      <p:sp>
        <p:nvSpPr>
          <p:cNvPr id="16" name="Rectangle 15"/>
          <p:cNvSpPr/>
          <p:nvPr/>
        </p:nvSpPr>
        <p:spPr>
          <a:xfrm>
            <a:off x="5943600" y="1645920"/>
            <a:ext cx="5925312" cy="4572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1645920"/>
            <a:ext cx="5925312" cy="41148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1664208"/>
            <a:ext cx="5669280" cy="365760"/>
          </a:xfrm>
          <a:prstGeom prst="rect">
            <a:avLst/>
          </a:prstGeom>
          <a:noFill/>
        </p:spPr>
        <p:txBody>
          <a:bodyPr wrap="square">
            <a:spAutoFit/>
          </a:bodyPr>
          <a:lstStyle/>
          <a:p>
            <a:pPr algn="l"/>
            <a:r>
              <a:rPr sz="1400" b="1" i="0">
                <a:solidFill>
                  <a:srgbClr val="FAF7F2"/>
                </a:solidFill>
                <a:latin typeface="Calibri"/>
              </a:rPr>
              <a:t>Why It Works</a:t>
            </a:r>
          </a:p>
        </p:txBody>
      </p:sp>
      <p:sp>
        <p:nvSpPr>
          <p:cNvPr id="19" name="Rectangle 18"/>
          <p:cNvSpPr/>
          <p:nvPr/>
        </p:nvSpPr>
        <p:spPr>
          <a:xfrm>
            <a:off x="6035040" y="2176272"/>
            <a:ext cx="54864"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2176272"/>
            <a:ext cx="5486400" cy="658368"/>
          </a:xfrm>
          <a:prstGeom prst="rect">
            <a:avLst/>
          </a:prstGeom>
          <a:noFill/>
        </p:spPr>
        <p:txBody>
          <a:bodyPr wrap="square">
            <a:spAutoFit/>
          </a:bodyPr>
          <a:lstStyle/>
          <a:p>
            <a:pPr algn="l"/>
            <a:r>
              <a:rPr sz="1200" b="0" i="0">
                <a:solidFill>
                  <a:srgbClr val="5C3D1E"/>
                </a:solidFill>
                <a:latin typeface="Calibri"/>
              </a:rPr>
              <a:t>Fragments from the same artifact share a color palette (same material, lighting, and patina).</a:t>
            </a:r>
          </a:p>
        </p:txBody>
      </p:sp>
      <p:sp>
        <p:nvSpPr>
          <p:cNvPr id="21" name="Rectangle 20"/>
          <p:cNvSpPr/>
          <p:nvPr/>
        </p:nvSpPr>
        <p:spPr>
          <a:xfrm>
            <a:off x="6035040" y="2889504"/>
            <a:ext cx="54864"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889504"/>
            <a:ext cx="5486400" cy="658368"/>
          </a:xfrm>
          <a:prstGeom prst="rect">
            <a:avLst/>
          </a:prstGeom>
          <a:noFill/>
        </p:spPr>
        <p:txBody>
          <a:bodyPr wrap="square">
            <a:spAutoFit/>
          </a:bodyPr>
          <a:lstStyle/>
          <a:p>
            <a:pPr algn="l"/>
            <a:r>
              <a:rPr sz="1200" b="0" i="0">
                <a:solidFill>
                  <a:srgbClr val="5C3D1E"/>
                </a:solidFill>
                <a:latin typeface="Calibri"/>
              </a:rPr>
              <a:t>Fragments from two different artifacts typically have different palette centers — yielding a clearly bimodal BC distribution.</a:t>
            </a:r>
          </a:p>
        </p:txBody>
      </p:sp>
      <p:sp>
        <p:nvSpPr>
          <p:cNvPr id="23" name="Rectangle 22"/>
          <p:cNvSpPr/>
          <p:nvPr/>
        </p:nvSpPr>
        <p:spPr>
          <a:xfrm>
            <a:off x="6035040" y="3602736"/>
            <a:ext cx="54864"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3602736"/>
            <a:ext cx="5486400" cy="658368"/>
          </a:xfrm>
          <a:prstGeom prst="rect">
            <a:avLst/>
          </a:prstGeom>
          <a:noFill/>
        </p:spPr>
        <p:txBody>
          <a:bodyPr wrap="square">
            <a:spAutoFit/>
          </a:bodyPr>
          <a:lstStyle/>
          <a:p>
            <a:pPr algn="l"/>
            <a:r>
              <a:rPr sz="1200" b="0" i="0">
                <a:solidFill>
                  <a:srgbClr val="5C3D1E"/>
                </a:solidFill>
                <a:latin typeface="Calibri"/>
              </a:rPr>
              <a:t>Detects mixing in ~0.2 seconds — vs. ~4 seconds for full pipeline.</a:t>
            </a:r>
          </a:p>
        </p:txBody>
      </p:sp>
      <p:sp>
        <p:nvSpPr>
          <p:cNvPr id="25" name="Rectangle 24"/>
          <p:cNvSpPr/>
          <p:nvPr/>
        </p:nvSpPr>
        <p:spPr>
          <a:xfrm>
            <a:off x="6035040" y="4315968"/>
            <a:ext cx="54864"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4315968"/>
            <a:ext cx="5486400" cy="658368"/>
          </a:xfrm>
          <a:prstGeom prst="rect">
            <a:avLst/>
          </a:prstGeom>
          <a:noFill/>
        </p:spPr>
        <p:txBody>
          <a:bodyPr wrap="square">
            <a:spAutoFit/>
          </a:bodyPr>
          <a:lstStyle/>
          <a:p>
            <a:pPr algn="l"/>
            <a:r>
              <a:rPr sz="1200" b="0" i="0">
                <a:solidFill>
                  <a:srgbClr val="5C3D1E"/>
                </a:solidFill>
                <a:latin typeface="Calibri"/>
              </a:rPr>
              <a:t>Catches 19/36 negative cases. Fails only when two artifacts share nearly identical hue distributions.</a:t>
            </a:r>
          </a:p>
        </p:txBody>
      </p:sp>
      <p:sp>
        <p:nvSpPr>
          <p:cNvPr id="27" name="Rectangle 26"/>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Stage 5 — Relaxation Labeling (Assembly Search)</a:t>
            </a:r>
          </a:p>
        </p:txBody>
      </p:sp>
      <p:sp>
        <p:nvSpPr>
          <p:cNvPr id="5" name="Rectangle 4"/>
          <p:cNvSpPr/>
          <p:nvPr/>
        </p:nvSpPr>
        <p:spPr>
          <a:xfrm>
            <a:off x="10515600" y="201168"/>
            <a:ext cx="1371600" cy="384048"/>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61320" y="219456"/>
            <a:ext cx="1280160" cy="347472"/>
          </a:xfrm>
          <a:prstGeom prst="rect">
            <a:avLst/>
          </a:prstGeom>
          <a:noFill/>
        </p:spPr>
        <p:txBody>
          <a:bodyPr wrap="square">
            <a:spAutoFit/>
          </a:bodyPr>
          <a:lstStyle/>
          <a:p>
            <a:pPr algn="ctr"/>
            <a:r>
              <a:rPr sz="1100" b="1" i="0">
                <a:solidFill>
                  <a:srgbClr val="FAF7F2"/>
                </a:solidFill>
                <a:latin typeface="Calibri"/>
              </a:rPr>
              <a:t>Lecture 53</a:t>
            </a:r>
          </a:p>
        </p:txBody>
      </p:sp>
      <p:sp>
        <p:nvSpPr>
          <p:cNvPr id="7" name="TextBox 6"/>
          <p:cNvSpPr txBox="1"/>
          <p:nvPr/>
        </p:nvSpPr>
        <p:spPr>
          <a:xfrm>
            <a:off x="365760" y="914400"/>
            <a:ext cx="5943600" cy="365760"/>
          </a:xfrm>
          <a:prstGeom prst="rect">
            <a:avLst/>
          </a:prstGeom>
          <a:noFill/>
        </p:spPr>
        <p:txBody>
          <a:bodyPr wrap="square">
            <a:spAutoFit/>
          </a:bodyPr>
          <a:lstStyle/>
          <a:p>
            <a:pPr algn="l"/>
            <a:r>
              <a:rPr sz="1500" b="1" i="0">
                <a:solidFill>
                  <a:srgbClr val="5C3D1E"/>
                </a:solidFill>
                <a:latin typeface="Calibri"/>
              </a:rPr>
              <a:t>The update rule (direct from Lecture 53):</a:t>
            </a:r>
          </a:p>
        </p:txBody>
      </p:sp>
      <p:sp>
        <p:nvSpPr>
          <p:cNvPr id="8" name="Rectangle 7"/>
          <p:cNvSpPr/>
          <p:nvPr/>
        </p:nvSpPr>
        <p:spPr>
          <a:xfrm>
            <a:off x="320040" y="1371600"/>
            <a:ext cx="5943600" cy="914400"/>
          </a:xfrm>
          <a:prstGeom prst="rect">
            <a:avLst/>
          </a:prstGeom>
          <a:solidFill>
            <a:srgbClr val="2C1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26464"/>
            <a:ext cx="5760720" cy="384048"/>
          </a:xfrm>
          <a:prstGeom prst="rect">
            <a:avLst/>
          </a:prstGeom>
          <a:noFill/>
        </p:spPr>
        <p:txBody>
          <a:bodyPr wrap="square">
            <a:spAutoFit/>
          </a:bodyPr>
          <a:lstStyle/>
          <a:p>
            <a:pPr algn="ctr"/>
            <a:r>
              <a:rPr sz="1400" b="1" i="0">
                <a:solidFill>
                  <a:srgbClr val="F5EDD8"/>
                </a:solidFill>
                <a:latin typeface="Courier New"/>
              </a:rPr>
              <a:t>P(i,λ)  ←  P(i,λ) · (1 + Q(i,λ))</a:t>
            </a:r>
          </a:p>
        </p:txBody>
      </p:sp>
      <p:sp>
        <p:nvSpPr>
          <p:cNvPr id="10" name="Rectangle 9"/>
          <p:cNvSpPr/>
          <p:nvPr/>
        </p:nvSpPr>
        <p:spPr>
          <a:xfrm>
            <a:off x="457200" y="1792224"/>
            <a:ext cx="5577840" cy="27432"/>
          </a:xfrm>
          <a:prstGeom prst="rect">
            <a:avLst/>
          </a:prstGeom>
          <a:solidFill>
            <a:srgbClr val="604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819656"/>
            <a:ext cx="5760720" cy="384048"/>
          </a:xfrm>
          <a:prstGeom prst="rect">
            <a:avLst/>
          </a:prstGeom>
          <a:noFill/>
        </p:spPr>
        <p:txBody>
          <a:bodyPr wrap="square">
            <a:spAutoFit/>
          </a:bodyPr>
          <a:lstStyle/>
          <a:p>
            <a:pPr algn="ctr"/>
            <a:r>
              <a:rPr sz="1400" b="1" i="0">
                <a:solidFill>
                  <a:srgbClr val="B85042"/>
                </a:solidFill>
                <a:latin typeface="Courier New"/>
              </a:rPr>
              <a:t>Σμ [ P(i,μ) · (1 + Q(i,μ)) ]</a:t>
            </a:r>
          </a:p>
        </p:txBody>
      </p:sp>
      <p:sp>
        <p:nvSpPr>
          <p:cNvPr id="12" name="Rectangle 11"/>
          <p:cNvSpPr/>
          <p:nvPr/>
        </p:nvSpPr>
        <p:spPr>
          <a:xfrm>
            <a:off x="320040" y="2423160"/>
            <a:ext cx="731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23160"/>
            <a:ext cx="5760720" cy="347472"/>
          </a:xfrm>
          <a:prstGeom prst="rect">
            <a:avLst/>
          </a:prstGeom>
          <a:noFill/>
        </p:spPr>
        <p:txBody>
          <a:bodyPr wrap="square">
            <a:spAutoFit/>
          </a:bodyPr>
          <a:lstStyle/>
          <a:p>
            <a:pPr algn="l"/>
            <a:r>
              <a:rPr sz="1300" b="1" i="0">
                <a:solidFill>
                  <a:srgbClr val="5C3D1E"/>
                </a:solidFill>
                <a:latin typeface="Calibri"/>
              </a:rPr>
              <a:t>Initial state</a:t>
            </a:r>
          </a:p>
        </p:txBody>
      </p:sp>
      <p:sp>
        <p:nvSpPr>
          <p:cNvPr id="14" name="TextBox 13"/>
          <p:cNvSpPr txBox="1"/>
          <p:nvPr/>
        </p:nvSpPr>
        <p:spPr>
          <a:xfrm>
            <a:off x="502920" y="2770632"/>
            <a:ext cx="5760720" cy="502920"/>
          </a:xfrm>
          <a:prstGeom prst="rect">
            <a:avLst/>
          </a:prstGeom>
          <a:noFill/>
        </p:spPr>
        <p:txBody>
          <a:bodyPr wrap="square">
            <a:spAutoFit/>
          </a:bodyPr>
          <a:lstStyle/>
          <a:p>
            <a:pPr algn="l"/>
            <a:r>
              <a:rPr sz="1200" b="0" i="0">
                <a:solidFill>
                  <a:srgbClr val="9E866E"/>
                </a:solidFill>
                <a:latin typeface="Calibri"/>
              </a:rPr>
              <a:t>Each fragment edge gets equal probability of matching every other fragment's edge.</a:t>
            </a:r>
          </a:p>
        </p:txBody>
      </p:sp>
      <p:sp>
        <p:nvSpPr>
          <p:cNvPr id="15" name="Rectangle 14"/>
          <p:cNvSpPr/>
          <p:nvPr/>
        </p:nvSpPr>
        <p:spPr>
          <a:xfrm>
            <a:off x="320040" y="3337560"/>
            <a:ext cx="731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37560"/>
            <a:ext cx="5760720" cy="347472"/>
          </a:xfrm>
          <a:prstGeom prst="rect">
            <a:avLst/>
          </a:prstGeom>
          <a:noFill/>
        </p:spPr>
        <p:txBody>
          <a:bodyPr wrap="square">
            <a:spAutoFit/>
          </a:bodyPr>
          <a:lstStyle/>
          <a:p>
            <a:pPr algn="l"/>
            <a:r>
              <a:rPr sz="1300" b="1" i="0">
                <a:solidFill>
                  <a:srgbClr val="5C3D1E"/>
                </a:solidFill>
                <a:latin typeface="Calibri"/>
              </a:rPr>
              <a:t>Q(i,λ) — context support</a:t>
            </a:r>
          </a:p>
        </p:txBody>
      </p:sp>
      <p:sp>
        <p:nvSpPr>
          <p:cNvPr id="17" name="TextBox 16"/>
          <p:cNvSpPr txBox="1"/>
          <p:nvPr/>
        </p:nvSpPr>
        <p:spPr>
          <a:xfrm>
            <a:off x="502920" y="3685032"/>
            <a:ext cx="5760720" cy="502920"/>
          </a:xfrm>
          <a:prstGeom prst="rect">
            <a:avLst/>
          </a:prstGeom>
          <a:noFill/>
        </p:spPr>
        <p:txBody>
          <a:bodyPr wrap="square">
            <a:spAutoFit/>
          </a:bodyPr>
          <a:lstStyle/>
          <a:p>
            <a:pPr algn="l"/>
            <a:r>
              <a:rPr sz="1200" b="0" i="0">
                <a:solidFill>
                  <a:srgbClr val="9E866E"/>
                </a:solidFill>
                <a:latin typeface="Calibri"/>
              </a:rPr>
              <a:t>Measures how much neighboring fragment pairs agree with the label λ.
If surrounding assignments are consistent → Q is high.</a:t>
            </a:r>
          </a:p>
        </p:txBody>
      </p:sp>
      <p:sp>
        <p:nvSpPr>
          <p:cNvPr id="18" name="Rectangle 17"/>
          <p:cNvSpPr/>
          <p:nvPr/>
        </p:nvSpPr>
        <p:spPr>
          <a:xfrm>
            <a:off x="320040" y="4251960"/>
            <a:ext cx="731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251960"/>
            <a:ext cx="5760720" cy="347472"/>
          </a:xfrm>
          <a:prstGeom prst="rect">
            <a:avLst/>
          </a:prstGeom>
          <a:noFill/>
        </p:spPr>
        <p:txBody>
          <a:bodyPr wrap="square">
            <a:spAutoFit/>
          </a:bodyPr>
          <a:lstStyle/>
          <a:p>
            <a:pPr algn="l"/>
            <a:r>
              <a:rPr sz="1300" b="1" i="0">
                <a:solidFill>
                  <a:srgbClr val="5C3D1E"/>
                </a:solidFill>
                <a:latin typeface="Calibri"/>
              </a:rPr>
              <a:t>Iteration</a:t>
            </a:r>
          </a:p>
        </p:txBody>
      </p:sp>
      <p:sp>
        <p:nvSpPr>
          <p:cNvPr id="20" name="TextBox 19"/>
          <p:cNvSpPr txBox="1"/>
          <p:nvPr/>
        </p:nvSpPr>
        <p:spPr>
          <a:xfrm>
            <a:off x="502920" y="4599432"/>
            <a:ext cx="5760720" cy="502920"/>
          </a:xfrm>
          <a:prstGeom prst="rect">
            <a:avLst/>
          </a:prstGeom>
          <a:noFill/>
        </p:spPr>
        <p:txBody>
          <a:bodyPr wrap="square">
            <a:spAutoFit/>
          </a:bodyPr>
          <a:lstStyle/>
          <a:p>
            <a:pPr algn="l"/>
            <a:r>
              <a:rPr sz="1200" b="0" i="0">
                <a:solidFill>
                  <a:srgbClr val="9E866E"/>
                </a:solidFill>
                <a:latin typeface="Calibri"/>
              </a:rPr>
              <a:t>Repeat until convergence (Δ &lt; 10⁻⁴) or max 50 iterations.
Consistent matches reinforce each other; contradictory ones cancel out.</a:t>
            </a:r>
          </a:p>
        </p:txBody>
      </p:sp>
      <p:sp>
        <p:nvSpPr>
          <p:cNvPr id="21" name="Rectangle 20"/>
          <p:cNvSpPr/>
          <p:nvPr/>
        </p:nvSpPr>
        <p:spPr>
          <a:xfrm>
            <a:off x="320040" y="5166360"/>
            <a:ext cx="731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166360"/>
            <a:ext cx="5760720" cy="347472"/>
          </a:xfrm>
          <a:prstGeom prst="rect">
            <a:avLst/>
          </a:prstGeom>
          <a:noFill/>
        </p:spPr>
        <p:txBody>
          <a:bodyPr wrap="square">
            <a:spAutoFit/>
          </a:bodyPr>
          <a:lstStyle/>
          <a:p>
            <a:pPr algn="l"/>
            <a:r>
              <a:rPr sz="1300" b="1" i="0">
                <a:solidFill>
                  <a:srgbClr val="5C3D1E"/>
                </a:solidFill>
                <a:latin typeface="Calibri"/>
              </a:rPr>
              <a:t>Assembly extraction</a:t>
            </a:r>
          </a:p>
        </p:txBody>
      </p:sp>
      <p:sp>
        <p:nvSpPr>
          <p:cNvPr id="23" name="TextBox 22"/>
          <p:cNvSpPr txBox="1"/>
          <p:nvPr/>
        </p:nvSpPr>
        <p:spPr>
          <a:xfrm>
            <a:off x="502920" y="5513832"/>
            <a:ext cx="5760720" cy="502920"/>
          </a:xfrm>
          <a:prstGeom prst="rect">
            <a:avLst/>
          </a:prstGeom>
          <a:noFill/>
        </p:spPr>
        <p:txBody>
          <a:bodyPr wrap="square">
            <a:spAutoFit/>
          </a:bodyPr>
          <a:lstStyle/>
          <a:p>
            <a:pPr algn="l"/>
            <a:r>
              <a:rPr sz="1200" b="0" i="0">
                <a:solidFill>
                  <a:srgbClr val="9E866E"/>
                </a:solidFill>
                <a:latin typeface="Calibri"/>
              </a:rPr>
              <a:t>After convergence, extract the highest-probability assignment.
Count how many pairs exceed a confidence threshold → MATCH / WEAK MATCH / NO MATCH.</a:t>
            </a:r>
          </a:p>
        </p:txBody>
      </p:sp>
      <p:pic>
        <p:nvPicPr>
          <p:cNvPr id="24" name="Picture 23" descr="convergence.png"/>
          <p:cNvPicPr>
            <a:picLocks noChangeAspect="1"/>
          </p:cNvPicPr>
          <p:nvPr/>
        </p:nvPicPr>
        <p:blipFill>
          <a:blip r:embed="rId2"/>
          <a:stretch>
            <a:fillRect/>
          </a:stretch>
        </p:blipFill>
        <p:spPr>
          <a:xfrm>
            <a:off x="6583680" y="914400"/>
            <a:ext cx="5212080" cy="3657600"/>
          </a:xfrm>
          <a:prstGeom prst="rect">
            <a:avLst/>
          </a:prstGeom>
        </p:spPr>
      </p:pic>
      <p:sp>
        <p:nvSpPr>
          <p:cNvPr id="25" name="TextBox 24"/>
          <p:cNvSpPr txBox="1"/>
          <p:nvPr/>
        </p:nvSpPr>
        <p:spPr>
          <a:xfrm>
            <a:off x="6583680" y="4572000"/>
            <a:ext cx="5212080" cy="320040"/>
          </a:xfrm>
          <a:prstGeom prst="rect">
            <a:avLst/>
          </a:prstGeom>
          <a:noFill/>
        </p:spPr>
        <p:txBody>
          <a:bodyPr wrap="square">
            <a:spAutoFit/>
          </a:bodyPr>
          <a:lstStyle/>
          <a:p>
            <a:pPr algn="ctr"/>
            <a:r>
              <a:rPr sz="1100" b="0" i="1">
                <a:solidFill>
                  <a:srgbClr val="9E866E"/>
                </a:solidFill>
                <a:latin typeface="Calibri"/>
              </a:rPr>
              <a:t>Convergence trace — confidence per iteration</a:t>
            </a:r>
          </a:p>
        </p:txBody>
      </p:sp>
      <p:sp>
        <p:nvSpPr>
          <p:cNvPr id="26" name="Rectangle 25"/>
          <p:cNvSpPr/>
          <p:nvPr/>
        </p:nvSpPr>
        <p:spPr>
          <a:xfrm>
            <a:off x="6583680" y="4983480"/>
            <a:ext cx="5212080" cy="1280160"/>
          </a:xfrm>
          <a:prstGeom prst="rect">
            <a:avLst/>
          </a:prstGeom>
          <a:solidFill>
            <a:srgbClr val="2C1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029200"/>
            <a:ext cx="1920240" cy="384048"/>
          </a:xfrm>
          <a:prstGeom prst="rect">
            <a:avLst/>
          </a:prstGeom>
          <a:noFill/>
        </p:spPr>
        <p:txBody>
          <a:bodyPr wrap="square">
            <a:spAutoFit/>
          </a:bodyPr>
          <a:lstStyle/>
          <a:p>
            <a:pPr algn="l"/>
            <a:r>
              <a:rPr sz="1300" b="1" i="0">
                <a:solidFill>
                  <a:srgbClr val="A7BEAE"/>
                </a:solidFill>
                <a:latin typeface="Courier New"/>
              </a:rPr>
              <a:t>MATCH</a:t>
            </a:r>
          </a:p>
        </p:txBody>
      </p:sp>
      <p:sp>
        <p:nvSpPr>
          <p:cNvPr id="28" name="TextBox 27"/>
          <p:cNvSpPr txBox="1"/>
          <p:nvPr/>
        </p:nvSpPr>
        <p:spPr>
          <a:xfrm>
            <a:off x="6720840" y="5376672"/>
            <a:ext cx="1920240" cy="365760"/>
          </a:xfrm>
          <a:prstGeom prst="rect">
            <a:avLst/>
          </a:prstGeom>
          <a:noFill/>
        </p:spPr>
        <p:txBody>
          <a:bodyPr wrap="square">
            <a:spAutoFit/>
          </a:bodyPr>
          <a:lstStyle/>
          <a:p>
            <a:pPr algn="l"/>
            <a:r>
              <a:rPr sz="1100" b="0" i="0">
                <a:solidFill>
                  <a:srgbClr val="9E866E"/>
                </a:solidFill>
                <a:latin typeface="Calibri"/>
              </a:rPr>
              <a:t>≥ 60% of pairs above threshold</a:t>
            </a:r>
          </a:p>
        </p:txBody>
      </p:sp>
      <p:sp>
        <p:nvSpPr>
          <p:cNvPr id="29" name="TextBox 28"/>
          <p:cNvSpPr txBox="1"/>
          <p:nvPr/>
        </p:nvSpPr>
        <p:spPr>
          <a:xfrm>
            <a:off x="8412480" y="5029200"/>
            <a:ext cx="1920240" cy="384048"/>
          </a:xfrm>
          <a:prstGeom prst="rect">
            <a:avLst/>
          </a:prstGeom>
          <a:noFill/>
        </p:spPr>
        <p:txBody>
          <a:bodyPr wrap="square">
            <a:spAutoFit/>
          </a:bodyPr>
          <a:lstStyle/>
          <a:p>
            <a:pPr algn="l"/>
            <a:r>
              <a:rPr sz="1300" b="1" i="0">
                <a:solidFill>
                  <a:srgbClr val="967222"/>
                </a:solidFill>
                <a:latin typeface="Courier New"/>
              </a:rPr>
              <a:t>WEAK MATCH</a:t>
            </a:r>
          </a:p>
        </p:txBody>
      </p:sp>
      <p:sp>
        <p:nvSpPr>
          <p:cNvPr id="30" name="TextBox 29"/>
          <p:cNvSpPr txBox="1"/>
          <p:nvPr/>
        </p:nvSpPr>
        <p:spPr>
          <a:xfrm>
            <a:off x="8412480" y="5376672"/>
            <a:ext cx="1920240" cy="365760"/>
          </a:xfrm>
          <a:prstGeom prst="rect">
            <a:avLst/>
          </a:prstGeom>
          <a:noFill/>
        </p:spPr>
        <p:txBody>
          <a:bodyPr wrap="square">
            <a:spAutoFit/>
          </a:bodyPr>
          <a:lstStyle/>
          <a:p>
            <a:pPr algn="l"/>
            <a:r>
              <a:rPr sz="1100" b="0" i="0">
                <a:solidFill>
                  <a:srgbClr val="9E866E"/>
                </a:solidFill>
                <a:latin typeface="Calibri"/>
              </a:rPr>
              <a:t>40–60% of pairs</a:t>
            </a:r>
          </a:p>
        </p:txBody>
      </p:sp>
      <p:sp>
        <p:nvSpPr>
          <p:cNvPr id="31" name="TextBox 30"/>
          <p:cNvSpPr txBox="1"/>
          <p:nvPr/>
        </p:nvSpPr>
        <p:spPr>
          <a:xfrm>
            <a:off x="10104119" y="5029200"/>
            <a:ext cx="1920240" cy="384048"/>
          </a:xfrm>
          <a:prstGeom prst="rect">
            <a:avLst/>
          </a:prstGeom>
          <a:noFill/>
        </p:spPr>
        <p:txBody>
          <a:bodyPr wrap="square">
            <a:spAutoFit/>
          </a:bodyPr>
          <a:lstStyle/>
          <a:p>
            <a:pPr algn="l"/>
            <a:r>
              <a:rPr sz="1300" b="1" i="0">
                <a:solidFill>
                  <a:srgbClr val="B85042"/>
                </a:solidFill>
                <a:latin typeface="Courier New"/>
              </a:rPr>
              <a:t>NO MATCH</a:t>
            </a:r>
          </a:p>
        </p:txBody>
      </p:sp>
      <p:sp>
        <p:nvSpPr>
          <p:cNvPr id="32" name="TextBox 31"/>
          <p:cNvSpPr txBox="1"/>
          <p:nvPr/>
        </p:nvSpPr>
        <p:spPr>
          <a:xfrm>
            <a:off x="10104119" y="5376672"/>
            <a:ext cx="1920240" cy="365760"/>
          </a:xfrm>
          <a:prstGeom prst="rect">
            <a:avLst/>
          </a:prstGeom>
          <a:noFill/>
        </p:spPr>
        <p:txBody>
          <a:bodyPr wrap="square">
            <a:spAutoFit/>
          </a:bodyPr>
          <a:lstStyle/>
          <a:p>
            <a:pPr algn="l"/>
            <a:r>
              <a:rPr sz="1100" b="0" i="0">
                <a:solidFill>
                  <a:srgbClr val="9E866E"/>
                </a:solidFill>
                <a:latin typeface="Calibri"/>
              </a:rPr>
              <a:t>&lt; 40% of pairs</a:t>
            </a:r>
          </a:p>
        </p:txBody>
      </p:sp>
      <p:sp>
        <p:nvSpPr>
          <p:cNvPr id="33" name="Rectangle 32"/>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Visual Results — Fragment Contours &amp; Compatibility</a:t>
            </a:r>
          </a:p>
        </p:txBody>
      </p:sp>
      <p:sp>
        <p:nvSpPr>
          <p:cNvPr id="5" name="TextBox 4"/>
          <p:cNvSpPr txBox="1"/>
          <p:nvPr/>
        </p:nvSpPr>
        <p:spPr>
          <a:xfrm>
            <a:off x="365760" y="914400"/>
            <a:ext cx="11430000" cy="365760"/>
          </a:xfrm>
          <a:prstGeom prst="rect">
            <a:avLst/>
          </a:prstGeom>
          <a:noFill/>
        </p:spPr>
        <p:txBody>
          <a:bodyPr wrap="square">
            <a:spAutoFit/>
          </a:bodyPr>
          <a:lstStyle/>
          <a:p>
            <a:pPr algn="l"/>
            <a:r>
              <a:rPr sz="1500" b="0" i="0">
                <a:solidFill>
                  <a:srgbClr val="5C3D1E"/>
                </a:solidFill>
                <a:latin typeface="Calibri"/>
              </a:rPr>
              <a:t>These outputs are generated automatically for every pipeline run.</a:t>
            </a:r>
          </a:p>
        </p:txBody>
      </p:sp>
      <p:pic>
        <p:nvPicPr>
          <p:cNvPr id="6" name="Picture 5" descr="fragment_contours.png"/>
          <p:cNvPicPr>
            <a:picLocks noChangeAspect="1"/>
          </p:cNvPicPr>
          <p:nvPr/>
        </p:nvPicPr>
        <p:blipFill>
          <a:blip r:embed="rId2"/>
          <a:stretch>
            <a:fillRect/>
          </a:stretch>
        </p:blipFill>
        <p:spPr>
          <a:xfrm>
            <a:off x="320040" y="1417320"/>
            <a:ext cx="5669280" cy="4297680"/>
          </a:xfrm>
          <a:prstGeom prst="rect">
            <a:avLst/>
          </a:prstGeom>
        </p:spPr>
      </p:pic>
      <p:sp>
        <p:nvSpPr>
          <p:cNvPr id="7" name="TextBox 6"/>
          <p:cNvSpPr txBox="1"/>
          <p:nvPr/>
        </p:nvSpPr>
        <p:spPr>
          <a:xfrm>
            <a:off x="320040" y="5760720"/>
            <a:ext cx="5669280" cy="594360"/>
          </a:xfrm>
          <a:prstGeom prst="rect">
            <a:avLst/>
          </a:prstGeom>
          <a:noFill/>
        </p:spPr>
        <p:txBody>
          <a:bodyPr wrap="square">
            <a:spAutoFit/>
          </a:bodyPr>
          <a:lstStyle/>
          <a:p>
            <a:pPr algn="ctr"/>
            <a:r>
              <a:rPr sz="1200" b="0" i="1">
                <a:solidFill>
                  <a:srgbClr val="9E866E"/>
                </a:solidFill>
                <a:latin typeface="Calibri"/>
              </a:rPr>
              <a:t>fragment_contours.png
Extracted boundaries overlaid on each input fragment</a:t>
            </a:r>
          </a:p>
        </p:txBody>
      </p:sp>
      <p:pic>
        <p:nvPicPr>
          <p:cNvPr id="8" name="Picture 7" descr="compatibility_heatmap.png"/>
          <p:cNvPicPr>
            <a:picLocks noChangeAspect="1"/>
          </p:cNvPicPr>
          <p:nvPr/>
        </p:nvPicPr>
        <p:blipFill>
          <a:blip r:embed="rId3"/>
          <a:stretch>
            <a:fillRect/>
          </a:stretch>
        </p:blipFill>
        <p:spPr>
          <a:xfrm>
            <a:off x="6199632" y="1417320"/>
            <a:ext cx="5669280" cy="4297680"/>
          </a:xfrm>
          <a:prstGeom prst="rect">
            <a:avLst/>
          </a:prstGeom>
        </p:spPr>
      </p:pic>
      <p:sp>
        <p:nvSpPr>
          <p:cNvPr id="9" name="TextBox 8"/>
          <p:cNvSpPr txBox="1"/>
          <p:nvPr/>
        </p:nvSpPr>
        <p:spPr>
          <a:xfrm>
            <a:off x="6199632" y="5760720"/>
            <a:ext cx="5669280" cy="594360"/>
          </a:xfrm>
          <a:prstGeom prst="rect">
            <a:avLst/>
          </a:prstGeom>
          <a:noFill/>
        </p:spPr>
        <p:txBody>
          <a:bodyPr wrap="square">
            <a:spAutoFit/>
          </a:bodyPr>
          <a:lstStyle/>
          <a:p>
            <a:pPr algn="ctr"/>
            <a:r>
              <a:rPr sz="1200" b="0" i="1">
                <a:solidFill>
                  <a:srgbClr val="9E866E"/>
                </a:solidFill>
                <a:latin typeface="Calibri"/>
              </a:rPr>
              <a:t>compatibility_heatmap.png
Pairwise edge compatibility matrix — bright cells = likely matches</a:t>
            </a:r>
          </a:p>
        </p:txBody>
      </p:sp>
      <p:sp>
        <p:nvSpPr>
          <p:cNvPr id="10" name="Rectangle 9"/>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Visual Results — Proposed Assemblies</a:t>
            </a:r>
          </a:p>
        </p:txBody>
      </p:sp>
      <p:sp>
        <p:nvSpPr>
          <p:cNvPr id="5" name="TextBox 4"/>
          <p:cNvSpPr txBox="1"/>
          <p:nvPr/>
        </p:nvSpPr>
        <p:spPr>
          <a:xfrm>
            <a:off x="365760" y="914400"/>
            <a:ext cx="11430000" cy="365760"/>
          </a:xfrm>
          <a:prstGeom prst="rect">
            <a:avLst/>
          </a:prstGeom>
          <a:noFill/>
        </p:spPr>
        <p:txBody>
          <a:bodyPr wrap="square">
            <a:spAutoFit/>
          </a:bodyPr>
          <a:lstStyle/>
          <a:p>
            <a:pPr algn="l"/>
            <a:r>
              <a:rPr sz="1500" b="0" i="0">
                <a:solidFill>
                  <a:srgbClr val="5C3D1E"/>
                </a:solidFill>
                <a:latin typeface="Calibri"/>
              </a:rPr>
              <a:t>The pipeline proposes the top-3 assemblies, each with a confidence score.</a:t>
            </a:r>
          </a:p>
        </p:txBody>
      </p:sp>
      <p:pic>
        <p:nvPicPr>
          <p:cNvPr id="6" name="Picture 5" descr="assembly_01.png"/>
          <p:cNvPicPr>
            <a:picLocks noChangeAspect="1"/>
          </p:cNvPicPr>
          <p:nvPr/>
        </p:nvPicPr>
        <p:blipFill>
          <a:blip r:embed="rId2"/>
          <a:stretch>
            <a:fillRect/>
          </a:stretch>
        </p:blipFill>
        <p:spPr>
          <a:xfrm>
            <a:off x="320040" y="1417320"/>
            <a:ext cx="5577840" cy="4297680"/>
          </a:xfrm>
          <a:prstGeom prst="rect">
            <a:avLst/>
          </a:prstGeom>
        </p:spPr>
      </p:pic>
      <p:sp>
        <p:nvSpPr>
          <p:cNvPr id="7" name="TextBox 6"/>
          <p:cNvSpPr txBox="1"/>
          <p:nvPr/>
        </p:nvSpPr>
        <p:spPr>
          <a:xfrm>
            <a:off x="320040" y="5760720"/>
            <a:ext cx="5577840" cy="457200"/>
          </a:xfrm>
          <a:prstGeom prst="rect">
            <a:avLst/>
          </a:prstGeom>
          <a:noFill/>
        </p:spPr>
        <p:txBody>
          <a:bodyPr wrap="square">
            <a:spAutoFit/>
          </a:bodyPr>
          <a:lstStyle/>
          <a:p>
            <a:pPr algn="ctr"/>
            <a:r>
              <a:rPr sz="1200" b="0" i="1">
                <a:solidFill>
                  <a:srgbClr val="9E866E"/>
                </a:solidFill>
                <a:latin typeface="Calibri"/>
              </a:rPr>
              <a:t>assembly_01.png — Top proposal with match annotations</a:t>
            </a:r>
          </a:p>
        </p:txBody>
      </p:sp>
      <p:pic>
        <p:nvPicPr>
          <p:cNvPr id="8" name="Picture 7" descr="assembly_01_geometric.png"/>
          <p:cNvPicPr>
            <a:picLocks noChangeAspect="1"/>
          </p:cNvPicPr>
          <p:nvPr/>
        </p:nvPicPr>
        <p:blipFill>
          <a:blip r:embed="rId3"/>
          <a:stretch>
            <a:fillRect/>
          </a:stretch>
        </p:blipFill>
        <p:spPr>
          <a:xfrm>
            <a:off x="6035040" y="1417320"/>
            <a:ext cx="5833872" cy="4297680"/>
          </a:xfrm>
          <a:prstGeom prst="rect">
            <a:avLst/>
          </a:prstGeom>
        </p:spPr>
      </p:pic>
      <p:sp>
        <p:nvSpPr>
          <p:cNvPr id="9" name="TextBox 8"/>
          <p:cNvSpPr txBox="1"/>
          <p:nvPr/>
        </p:nvSpPr>
        <p:spPr>
          <a:xfrm>
            <a:off x="6035040" y="5760720"/>
            <a:ext cx="5833872" cy="457200"/>
          </a:xfrm>
          <a:prstGeom prst="rect">
            <a:avLst/>
          </a:prstGeom>
          <a:noFill/>
        </p:spPr>
        <p:txBody>
          <a:bodyPr wrap="square">
            <a:spAutoFit/>
          </a:bodyPr>
          <a:lstStyle/>
          <a:p>
            <a:pPr algn="ctr"/>
            <a:r>
              <a:rPr sz="1200" b="0" i="1">
                <a:solidFill>
                  <a:srgbClr val="9E866E"/>
                </a:solidFill>
                <a:latin typeface="Calibri"/>
              </a:rPr>
              <a:t>assembly_01_geometric.png — Fragments arranged in proposed positions</a:t>
            </a:r>
          </a:p>
        </p:txBody>
      </p:sp>
      <p:sp>
        <p:nvSpPr>
          <p:cNvPr id="10" name="Rectangle 9"/>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Benchmark Results</a:t>
            </a:r>
          </a:p>
        </p:txBody>
      </p:sp>
      <p:sp>
        <p:nvSpPr>
          <p:cNvPr id="5" name="TextBox 4"/>
          <p:cNvSpPr txBox="1"/>
          <p:nvPr/>
        </p:nvSpPr>
        <p:spPr>
          <a:xfrm>
            <a:off x="365760" y="914400"/>
            <a:ext cx="11430000" cy="365760"/>
          </a:xfrm>
          <a:prstGeom prst="rect">
            <a:avLst/>
          </a:prstGeom>
          <a:noFill/>
        </p:spPr>
        <p:txBody>
          <a:bodyPr wrap="square">
            <a:spAutoFit/>
          </a:bodyPr>
          <a:lstStyle/>
          <a:p>
            <a:pPr algn="l"/>
            <a:r>
              <a:rPr sz="1500" b="0" i="1">
                <a:solidFill>
                  <a:srgbClr val="5C3D1E"/>
                </a:solidFill>
                <a:latin typeface="Calibri"/>
              </a:rPr>
              <a:t>Running run_test.py --no-rotate against the full data/examples/ suite:</a:t>
            </a:r>
          </a:p>
        </p:txBody>
      </p:sp>
      <p:sp>
        <p:nvSpPr>
          <p:cNvPr id="6" name="Rectangle 5"/>
          <p:cNvSpPr/>
          <p:nvPr/>
        </p:nvSpPr>
        <p:spPr>
          <a:xfrm>
            <a:off x="457200" y="1463040"/>
            <a:ext cx="5029200" cy="256032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4846320" cy="1371600"/>
          </a:xfrm>
          <a:prstGeom prst="rect">
            <a:avLst/>
          </a:prstGeom>
          <a:noFill/>
        </p:spPr>
        <p:txBody>
          <a:bodyPr wrap="square">
            <a:spAutoFit/>
          </a:bodyPr>
          <a:lstStyle/>
          <a:p>
            <a:pPr algn="ctr"/>
            <a:r>
              <a:rPr sz="7200" b="1" i="0">
                <a:solidFill>
                  <a:srgbClr val="FAF7F2"/>
                </a:solidFill>
                <a:latin typeface="Calibri"/>
              </a:rPr>
              <a:t>9 / 9</a:t>
            </a:r>
          </a:p>
        </p:txBody>
      </p:sp>
      <p:sp>
        <p:nvSpPr>
          <p:cNvPr id="8" name="TextBox 7"/>
          <p:cNvSpPr txBox="1"/>
          <p:nvPr/>
        </p:nvSpPr>
        <p:spPr>
          <a:xfrm>
            <a:off x="548640" y="2880360"/>
            <a:ext cx="4846320" cy="457200"/>
          </a:xfrm>
          <a:prstGeom prst="rect">
            <a:avLst/>
          </a:prstGeom>
          <a:noFill/>
        </p:spPr>
        <p:txBody>
          <a:bodyPr wrap="square">
            <a:spAutoFit/>
          </a:bodyPr>
          <a:lstStyle/>
          <a:p>
            <a:pPr algn="ctr"/>
            <a:r>
              <a:rPr sz="1800" b="0" i="0">
                <a:solidFill>
                  <a:srgbClr val="FAF7F2"/>
                </a:solidFill>
                <a:latin typeface="Calibri"/>
              </a:rPr>
              <a:t>POSITIVE cases (same image)</a:t>
            </a:r>
          </a:p>
        </p:txBody>
      </p:sp>
      <p:sp>
        <p:nvSpPr>
          <p:cNvPr id="9" name="TextBox 8"/>
          <p:cNvSpPr txBox="1"/>
          <p:nvPr/>
        </p:nvSpPr>
        <p:spPr>
          <a:xfrm>
            <a:off x="548640" y="3310128"/>
            <a:ext cx="4846320" cy="502920"/>
          </a:xfrm>
          <a:prstGeom prst="rect">
            <a:avLst/>
          </a:prstGeom>
          <a:noFill/>
        </p:spPr>
        <p:txBody>
          <a:bodyPr wrap="square">
            <a:spAutoFit/>
          </a:bodyPr>
          <a:lstStyle/>
          <a:p>
            <a:pPr algn="ctr"/>
            <a:r>
              <a:rPr sz="2200" b="1" i="0">
                <a:solidFill>
                  <a:srgbClr val="F5EDD8"/>
                </a:solidFill>
                <a:latin typeface="Calibri"/>
              </a:rPr>
              <a:t>100% pass rate</a:t>
            </a:r>
          </a:p>
        </p:txBody>
      </p:sp>
      <p:sp>
        <p:nvSpPr>
          <p:cNvPr id="10" name="Rectangle 9"/>
          <p:cNvSpPr/>
          <p:nvPr/>
        </p:nvSpPr>
        <p:spPr>
          <a:xfrm>
            <a:off x="5760720" y="1463040"/>
            <a:ext cx="5943600" cy="256032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554480"/>
            <a:ext cx="5760720" cy="1371600"/>
          </a:xfrm>
          <a:prstGeom prst="rect">
            <a:avLst/>
          </a:prstGeom>
          <a:noFill/>
        </p:spPr>
        <p:txBody>
          <a:bodyPr wrap="square">
            <a:spAutoFit/>
          </a:bodyPr>
          <a:lstStyle/>
          <a:p>
            <a:pPr algn="ctr"/>
            <a:r>
              <a:rPr sz="7200" b="1" i="0">
                <a:solidFill>
                  <a:srgbClr val="FAF7F2"/>
                </a:solidFill>
                <a:latin typeface="Calibri"/>
              </a:rPr>
              <a:t>19 / 36</a:t>
            </a:r>
          </a:p>
        </p:txBody>
      </p:sp>
      <p:sp>
        <p:nvSpPr>
          <p:cNvPr id="12" name="TextBox 11"/>
          <p:cNvSpPr txBox="1"/>
          <p:nvPr/>
        </p:nvSpPr>
        <p:spPr>
          <a:xfrm>
            <a:off x="5852160" y="2880360"/>
            <a:ext cx="5760720" cy="457200"/>
          </a:xfrm>
          <a:prstGeom prst="rect">
            <a:avLst/>
          </a:prstGeom>
          <a:noFill/>
        </p:spPr>
        <p:txBody>
          <a:bodyPr wrap="square">
            <a:spAutoFit/>
          </a:bodyPr>
          <a:lstStyle/>
          <a:p>
            <a:pPr algn="ctr"/>
            <a:r>
              <a:rPr sz="1800" b="0" i="0">
                <a:solidFill>
                  <a:srgbClr val="FAF7F2"/>
                </a:solidFill>
                <a:latin typeface="Calibri"/>
              </a:rPr>
              <a:t>NEGATIVE cases (mixed images)</a:t>
            </a:r>
          </a:p>
        </p:txBody>
      </p:sp>
      <p:sp>
        <p:nvSpPr>
          <p:cNvPr id="13" name="TextBox 12"/>
          <p:cNvSpPr txBox="1"/>
          <p:nvPr/>
        </p:nvSpPr>
        <p:spPr>
          <a:xfrm>
            <a:off x="5852160" y="3310128"/>
            <a:ext cx="5760720" cy="502920"/>
          </a:xfrm>
          <a:prstGeom prst="rect">
            <a:avLst/>
          </a:prstGeom>
          <a:noFill/>
        </p:spPr>
        <p:txBody>
          <a:bodyPr wrap="square">
            <a:spAutoFit/>
          </a:bodyPr>
          <a:lstStyle/>
          <a:p>
            <a:pPr algn="ctr"/>
            <a:r>
              <a:rPr sz="2200" b="1" i="0">
                <a:solidFill>
                  <a:srgbClr val="F5EDD8"/>
                </a:solidFill>
                <a:latin typeface="Calibri"/>
              </a:rPr>
              <a:t>53% pass rate</a:t>
            </a:r>
          </a:p>
        </p:txBody>
      </p:sp>
      <p:sp>
        <p:nvSpPr>
          <p:cNvPr id="14" name="Rectangle 13"/>
          <p:cNvSpPr/>
          <p:nvPr/>
        </p:nvSpPr>
        <p:spPr>
          <a:xfrm>
            <a:off x="457200" y="4251960"/>
            <a:ext cx="11247120" cy="169164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251960"/>
            <a:ext cx="73152" cy="169164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279392"/>
            <a:ext cx="10881360" cy="411480"/>
          </a:xfrm>
          <a:prstGeom prst="rect">
            <a:avLst/>
          </a:prstGeom>
          <a:noFill/>
        </p:spPr>
        <p:txBody>
          <a:bodyPr wrap="square">
            <a:spAutoFit/>
          </a:bodyPr>
          <a:lstStyle/>
          <a:p>
            <a:pPr algn="l"/>
            <a:r>
              <a:rPr sz="1500" b="1" i="0">
                <a:solidFill>
                  <a:srgbClr val="5C3D1E"/>
                </a:solidFill>
                <a:latin typeface="Calibri"/>
              </a:rPr>
              <a:t>Why do 17 negative cases fail?</a:t>
            </a:r>
          </a:p>
        </p:txBody>
      </p:sp>
      <p:sp>
        <p:nvSpPr>
          <p:cNvPr id="17" name="TextBox 16"/>
          <p:cNvSpPr txBox="1"/>
          <p:nvPr/>
        </p:nvSpPr>
        <p:spPr>
          <a:xfrm>
            <a:off x="640080" y="4681728"/>
            <a:ext cx="10881360" cy="1188720"/>
          </a:xfrm>
          <a:prstGeom prst="rect">
            <a:avLst/>
          </a:prstGeom>
          <a:noFill/>
        </p:spPr>
        <p:txBody>
          <a:bodyPr wrap="square">
            <a:spAutoFit/>
          </a:bodyPr>
          <a:lstStyle/>
          <a:p>
            <a:pPr algn="l"/>
            <a:r>
              <a:rPr sz="1300" b="0" i="0">
                <a:solidFill>
                  <a:srgbClr val="5C3D1E"/>
                </a:solidFill>
                <a:latin typeface="Calibri"/>
              </a:rPr>
              <a:t>The 17 failing negative cases all involve image pairs with very similar color palettes — for example, two different pottery fragments made of the same clay, or two stone carvings photographed under the same lighting. In these cases, the pairwise Bhattacharyya coefficient matrix is NOT bimodal, so the pre-check cannot detect the mixed source. The geometric pipeline then finds high-confidence within-group matches (A↔A, B↔B) and reports MATCH incorrectly.</a:t>
            </a:r>
          </a:p>
        </p:txBody>
      </p:sp>
      <p:sp>
        <p:nvSpPr>
          <p:cNvPr id="18" name="Rectangle 17"/>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Algorithms from the Course</a:t>
            </a:r>
          </a:p>
        </p:txBody>
      </p:sp>
      <p:sp>
        <p:nvSpPr>
          <p:cNvPr id="5" name="TextBox 4"/>
          <p:cNvSpPr txBox="1"/>
          <p:nvPr/>
        </p:nvSpPr>
        <p:spPr>
          <a:xfrm>
            <a:off x="365760" y="914400"/>
            <a:ext cx="11430000" cy="365760"/>
          </a:xfrm>
          <a:prstGeom prst="rect">
            <a:avLst/>
          </a:prstGeom>
          <a:noFill/>
        </p:spPr>
        <p:txBody>
          <a:bodyPr wrap="square">
            <a:spAutoFit/>
          </a:bodyPr>
          <a:lstStyle/>
          <a:p>
            <a:pPr algn="l"/>
            <a:r>
              <a:rPr sz="1500" b="0" i="0">
                <a:solidFill>
                  <a:srgbClr val="5C3D1E"/>
                </a:solidFill>
                <a:latin typeface="Calibri"/>
              </a:rPr>
              <a:t>Every major component maps directly to a lecture from ICBV:</a:t>
            </a:r>
          </a:p>
        </p:txBody>
      </p:sp>
      <p:sp>
        <p:nvSpPr>
          <p:cNvPr id="6" name="Rectangle 5"/>
          <p:cNvSpPr/>
          <p:nvPr/>
        </p:nvSpPr>
        <p:spPr>
          <a:xfrm>
            <a:off x="274320" y="1417320"/>
            <a:ext cx="11640312" cy="41148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35608"/>
            <a:ext cx="2834640" cy="347472"/>
          </a:xfrm>
          <a:prstGeom prst="rect">
            <a:avLst/>
          </a:prstGeom>
          <a:noFill/>
        </p:spPr>
        <p:txBody>
          <a:bodyPr wrap="square">
            <a:spAutoFit/>
          </a:bodyPr>
          <a:lstStyle/>
          <a:p>
            <a:pPr algn="l"/>
            <a:r>
              <a:rPr sz="1300" b="1" i="0">
                <a:solidFill>
                  <a:srgbClr val="FAF7F2"/>
                </a:solidFill>
                <a:latin typeface="Calibri"/>
              </a:rPr>
              <a:t>Pipeline Stage</a:t>
            </a:r>
          </a:p>
        </p:txBody>
      </p:sp>
      <p:sp>
        <p:nvSpPr>
          <p:cNvPr id="8" name="TextBox 7"/>
          <p:cNvSpPr txBox="1"/>
          <p:nvPr/>
        </p:nvSpPr>
        <p:spPr>
          <a:xfrm>
            <a:off x="3246120" y="1435608"/>
            <a:ext cx="5303520" cy="347472"/>
          </a:xfrm>
          <a:prstGeom prst="rect">
            <a:avLst/>
          </a:prstGeom>
          <a:noFill/>
        </p:spPr>
        <p:txBody>
          <a:bodyPr wrap="square">
            <a:spAutoFit/>
          </a:bodyPr>
          <a:lstStyle/>
          <a:p>
            <a:pPr algn="l"/>
            <a:r>
              <a:rPr sz="1300" b="1" i="0">
                <a:solidFill>
                  <a:srgbClr val="FAF7F2"/>
                </a:solidFill>
                <a:latin typeface="Calibri"/>
              </a:rPr>
              <a:t>Algorithm Used</a:t>
            </a:r>
          </a:p>
        </p:txBody>
      </p:sp>
      <p:sp>
        <p:nvSpPr>
          <p:cNvPr id="9" name="TextBox 8"/>
          <p:cNvSpPr txBox="1"/>
          <p:nvPr/>
        </p:nvSpPr>
        <p:spPr>
          <a:xfrm>
            <a:off x="8595360" y="1435608"/>
            <a:ext cx="3200400" cy="347472"/>
          </a:xfrm>
          <a:prstGeom prst="rect">
            <a:avLst/>
          </a:prstGeom>
          <a:noFill/>
        </p:spPr>
        <p:txBody>
          <a:bodyPr wrap="square">
            <a:spAutoFit/>
          </a:bodyPr>
          <a:lstStyle/>
          <a:p>
            <a:pPr algn="l"/>
            <a:r>
              <a:rPr sz="1300" b="1" i="0">
                <a:solidFill>
                  <a:srgbClr val="FAF7F2"/>
                </a:solidFill>
                <a:latin typeface="Calibri"/>
              </a:rPr>
              <a:t>Lecture</a:t>
            </a:r>
          </a:p>
        </p:txBody>
      </p:sp>
      <p:sp>
        <p:nvSpPr>
          <p:cNvPr id="10" name="Rectangle 9"/>
          <p:cNvSpPr/>
          <p:nvPr/>
        </p:nvSpPr>
        <p:spPr>
          <a:xfrm>
            <a:off x="274320" y="1874519"/>
            <a:ext cx="11640312" cy="41148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911095"/>
            <a:ext cx="2834640" cy="347472"/>
          </a:xfrm>
          <a:prstGeom prst="rect">
            <a:avLst/>
          </a:prstGeom>
          <a:noFill/>
        </p:spPr>
        <p:txBody>
          <a:bodyPr wrap="square">
            <a:spAutoFit/>
          </a:bodyPr>
          <a:lstStyle/>
          <a:p>
            <a:pPr algn="l"/>
            <a:r>
              <a:rPr sz="1200" b="1" i="0">
                <a:solidFill>
                  <a:srgbClr val="5C3D1E"/>
                </a:solidFill>
                <a:latin typeface="Calibri"/>
              </a:rPr>
              <a:t>Preprocessing</a:t>
            </a:r>
          </a:p>
        </p:txBody>
      </p:sp>
      <p:sp>
        <p:nvSpPr>
          <p:cNvPr id="12" name="TextBox 11"/>
          <p:cNvSpPr txBox="1"/>
          <p:nvPr/>
        </p:nvSpPr>
        <p:spPr>
          <a:xfrm>
            <a:off x="3246120" y="1911095"/>
            <a:ext cx="5303520" cy="347472"/>
          </a:xfrm>
          <a:prstGeom prst="rect">
            <a:avLst/>
          </a:prstGeom>
          <a:noFill/>
        </p:spPr>
        <p:txBody>
          <a:bodyPr wrap="square">
            <a:spAutoFit/>
          </a:bodyPr>
          <a:lstStyle/>
          <a:p>
            <a:pPr algn="l"/>
            <a:r>
              <a:rPr sz="1200" b="0" i="0">
                <a:solidFill>
                  <a:srgbClr val="5C3D1E"/>
                </a:solidFill>
                <a:latin typeface="Calibri"/>
              </a:rPr>
              <a:t>Gaussian blur + Otsu thresholding</a:t>
            </a:r>
          </a:p>
        </p:txBody>
      </p:sp>
      <p:sp>
        <p:nvSpPr>
          <p:cNvPr id="13" name="TextBox 12"/>
          <p:cNvSpPr txBox="1"/>
          <p:nvPr/>
        </p:nvSpPr>
        <p:spPr>
          <a:xfrm>
            <a:off x="8595360" y="1911095"/>
            <a:ext cx="3200400" cy="347472"/>
          </a:xfrm>
          <a:prstGeom prst="rect">
            <a:avLst/>
          </a:prstGeom>
          <a:noFill/>
        </p:spPr>
        <p:txBody>
          <a:bodyPr wrap="square">
            <a:spAutoFit/>
          </a:bodyPr>
          <a:lstStyle/>
          <a:p>
            <a:pPr algn="l"/>
            <a:r>
              <a:rPr sz="1200" b="1" i="0">
                <a:solidFill>
                  <a:srgbClr val="B85042"/>
                </a:solidFill>
                <a:latin typeface="Calibri"/>
              </a:rPr>
              <a:t>Lecture 22</a:t>
            </a:r>
          </a:p>
        </p:txBody>
      </p:sp>
      <p:sp>
        <p:nvSpPr>
          <p:cNvPr id="14" name="Rectangle 13"/>
          <p:cNvSpPr/>
          <p:nvPr/>
        </p:nvSpPr>
        <p:spPr>
          <a:xfrm>
            <a:off x="274320" y="2304287"/>
            <a:ext cx="11640312" cy="411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2340863"/>
            <a:ext cx="2834640" cy="347472"/>
          </a:xfrm>
          <a:prstGeom prst="rect">
            <a:avLst/>
          </a:prstGeom>
          <a:noFill/>
        </p:spPr>
        <p:txBody>
          <a:bodyPr wrap="square">
            <a:spAutoFit/>
          </a:bodyPr>
          <a:lstStyle/>
          <a:p>
            <a:pPr algn="l"/>
            <a:r>
              <a:rPr sz="1200" b="1" i="0">
                <a:solidFill>
                  <a:srgbClr val="5C3D1E"/>
                </a:solidFill>
                <a:latin typeface="Calibri"/>
              </a:rPr>
              <a:t>Contour extraction</a:t>
            </a:r>
          </a:p>
        </p:txBody>
      </p:sp>
      <p:sp>
        <p:nvSpPr>
          <p:cNvPr id="16" name="TextBox 15"/>
          <p:cNvSpPr txBox="1"/>
          <p:nvPr/>
        </p:nvSpPr>
        <p:spPr>
          <a:xfrm>
            <a:off x="3246120" y="2340863"/>
            <a:ext cx="5303520" cy="347472"/>
          </a:xfrm>
          <a:prstGeom prst="rect">
            <a:avLst/>
          </a:prstGeom>
          <a:noFill/>
        </p:spPr>
        <p:txBody>
          <a:bodyPr wrap="square">
            <a:spAutoFit/>
          </a:bodyPr>
          <a:lstStyle/>
          <a:p>
            <a:pPr algn="l"/>
            <a:r>
              <a:rPr sz="1200" b="0" i="0">
                <a:solidFill>
                  <a:srgbClr val="5C3D1E"/>
                </a:solidFill>
                <a:latin typeface="Calibri"/>
              </a:rPr>
              <a:t>cv2.findContours (connected to Canny edge theory)</a:t>
            </a:r>
          </a:p>
        </p:txBody>
      </p:sp>
      <p:sp>
        <p:nvSpPr>
          <p:cNvPr id="17" name="TextBox 16"/>
          <p:cNvSpPr txBox="1"/>
          <p:nvPr/>
        </p:nvSpPr>
        <p:spPr>
          <a:xfrm>
            <a:off x="8595360" y="2340863"/>
            <a:ext cx="3200400" cy="347472"/>
          </a:xfrm>
          <a:prstGeom prst="rect">
            <a:avLst/>
          </a:prstGeom>
          <a:noFill/>
        </p:spPr>
        <p:txBody>
          <a:bodyPr wrap="square">
            <a:spAutoFit/>
          </a:bodyPr>
          <a:lstStyle/>
          <a:p>
            <a:pPr algn="l"/>
            <a:r>
              <a:rPr sz="1200" b="1" i="0">
                <a:solidFill>
                  <a:srgbClr val="B85042"/>
                </a:solidFill>
                <a:latin typeface="Calibri"/>
              </a:rPr>
              <a:t>Lecture 23</a:t>
            </a:r>
          </a:p>
        </p:txBody>
      </p:sp>
      <p:sp>
        <p:nvSpPr>
          <p:cNvPr id="18" name="Rectangle 17"/>
          <p:cNvSpPr/>
          <p:nvPr/>
        </p:nvSpPr>
        <p:spPr>
          <a:xfrm>
            <a:off x="274320" y="2734055"/>
            <a:ext cx="11640312" cy="41148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2770631"/>
            <a:ext cx="2834640" cy="347472"/>
          </a:xfrm>
          <a:prstGeom prst="rect">
            <a:avLst/>
          </a:prstGeom>
          <a:noFill/>
        </p:spPr>
        <p:txBody>
          <a:bodyPr wrap="square">
            <a:spAutoFit/>
          </a:bodyPr>
          <a:lstStyle/>
          <a:p>
            <a:pPr algn="l"/>
            <a:r>
              <a:rPr sz="1200" b="1" i="0">
                <a:solidFill>
                  <a:srgbClr val="5C3D1E"/>
                </a:solidFill>
                <a:latin typeface="Calibri"/>
              </a:rPr>
              <a:t>Shape encoding</a:t>
            </a:r>
          </a:p>
        </p:txBody>
      </p:sp>
      <p:sp>
        <p:nvSpPr>
          <p:cNvPr id="20" name="TextBox 19"/>
          <p:cNvSpPr txBox="1"/>
          <p:nvPr/>
        </p:nvSpPr>
        <p:spPr>
          <a:xfrm>
            <a:off x="3246120" y="2770631"/>
            <a:ext cx="5303520" cy="347472"/>
          </a:xfrm>
          <a:prstGeom prst="rect">
            <a:avLst/>
          </a:prstGeom>
          <a:noFill/>
        </p:spPr>
        <p:txBody>
          <a:bodyPr wrap="square">
            <a:spAutoFit/>
          </a:bodyPr>
          <a:lstStyle/>
          <a:p>
            <a:pPr algn="l"/>
            <a:r>
              <a:rPr sz="1200" b="0" i="0">
                <a:solidFill>
                  <a:srgbClr val="5C3D1E"/>
                </a:solidFill>
                <a:latin typeface="Calibri"/>
              </a:rPr>
              <a:t>Freeman 8-directional chain code</a:t>
            </a:r>
          </a:p>
        </p:txBody>
      </p:sp>
      <p:sp>
        <p:nvSpPr>
          <p:cNvPr id="21" name="TextBox 20"/>
          <p:cNvSpPr txBox="1"/>
          <p:nvPr/>
        </p:nvSpPr>
        <p:spPr>
          <a:xfrm>
            <a:off x="8595360" y="2770631"/>
            <a:ext cx="3200400" cy="347472"/>
          </a:xfrm>
          <a:prstGeom prst="rect">
            <a:avLst/>
          </a:prstGeom>
          <a:noFill/>
        </p:spPr>
        <p:txBody>
          <a:bodyPr wrap="square">
            <a:spAutoFit/>
          </a:bodyPr>
          <a:lstStyle/>
          <a:p>
            <a:pPr algn="l"/>
            <a:r>
              <a:rPr sz="1200" b="1" i="0">
                <a:solidFill>
                  <a:srgbClr val="B85042"/>
                </a:solidFill>
                <a:latin typeface="Calibri"/>
              </a:rPr>
              <a:t>Lecture 72</a:t>
            </a:r>
          </a:p>
        </p:txBody>
      </p:sp>
      <p:sp>
        <p:nvSpPr>
          <p:cNvPr id="22" name="Rectangle 21"/>
          <p:cNvSpPr/>
          <p:nvPr/>
        </p:nvSpPr>
        <p:spPr>
          <a:xfrm>
            <a:off x="274320" y="3163823"/>
            <a:ext cx="11640312" cy="411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3200399"/>
            <a:ext cx="2834640" cy="347472"/>
          </a:xfrm>
          <a:prstGeom prst="rect">
            <a:avLst/>
          </a:prstGeom>
          <a:noFill/>
        </p:spPr>
        <p:txBody>
          <a:bodyPr wrap="square">
            <a:spAutoFit/>
          </a:bodyPr>
          <a:lstStyle/>
          <a:p>
            <a:pPr algn="l"/>
            <a:r>
              <a:rPr sz="1200" b="1" i="0">
                <a:solidFill>
                  <a:srgbClr val="5C3D1E"/>
                </a:solidFill>
                <a:latin typeface="Calibri"/>
              </a:rPr>
              <a:t>Rotation invariance</a:t>
            </a:r>
          </a:p>
        </p:txBody>
      </p:sp>
      <p:sp>
        <p:nvSpPr>
          <p:cNvPr id="24" name="TextBox 23"/>
          <p:cNvSpPr txBox="1"/>
          <p:nvPr/>
        </p:nvSpPr>
        <p:spPr>
          <a:xfrm>
            <a:off x="3246120" y="3200399"/>
            <a:ext cx="5303520" cy="347472"/>
          </a:xfrm>
          <a:prstGeom prst="rect">
            <a:avLst/>
          </a:prstGeom>
          <a:noFill/>
        </p:spPr>
        <p:txBody>
          <a:bodyPr wrap="square">
            <a:spAutoFit/>
          </a:bodyPr>
          <a:lstStyle/>
          <a:p>
            <a:pPr algn="l"/>
            <a:r>
              <a:rPr sz="1200" b="0" i="0">
                <a:solidFill>
                  <a:srgbClr val="5C3D1E"/>
                </a:solidFill>
                <a:latin typeface="Calibri"/>
              </a:rPr>
              <a:t>PCA alignment + cyclic-minimum chain normalization</a:t>
            </a:r>
          </a:p>
        </p:txBody>
      </p:sp>
      <p:sp>
        <p:nvSpPr>
          <p:cNvPr id="25" name="TextBox 24"/>
          <p:cNvSpPr txBox="1"/>
          <p:nvPr/>
        </p:nvSpPr>
        <p:spPr>
          <a:xfrm>
            <a:off x="8595360" y="3200399"/>
            <a:ext cx="3200400" cy="347472"/>
          </a:xfrm>
          <a:prstGeom prst="rect">
            <a:avLst/>
          </a:prstGeom>
          <a:noFill/>
        </p:spPr>
        <p:txBody>
          <a:bodyPr wrap="square">
            <a:spAutoFit/>
          </a:bodyPr>
          <a:lstStyle/>
          <a:p>
            <a:pPr algn="l"/>
            <a:r>
              <a:rPr sz="1200" b="1" i="0">
                <a:solidFill>
                  <a:srgbClr val="B85042"/>
                </a:solidFill>
                <a:latin typeface="Calibri"/>
              </a:rPr>
              <a:t>Lect. 72 + 74</a:t>
            </a:r>
          </a:p>
        </p:txBody>
      </p:sp>
      <p:sp>
        <p:nvSpPr>
          <p:cNvPr id="26" name="Rectangle 25"/>
          <p:cNvSpPr/>
          <p:nvPr/>
        </p:nvSpPr>
        <p:spPr>
          <a:xfrm>
            <a:off x="274320" y="3593591"/>
            <a:ext cx="11640312" cy="41148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3630167"/>
            <a:ext cx="2834640" cy="347472"/>
          </a:xfrm>
          <a:prstGeom prst="rect">
            <a:avLst/>
          </a:prstGeom>
          <a:noFill/>
        </p:spPr>
        <p:txBody>
          <a:bodyPr wrap="square">
            <a:spAutoFit/>
          </a:bodyPr>
          <a:lstStyle/>
          <a:p>
            <a:pPr algn="l"/>
            <a:r>
              <a:rPr sz="1200" b="1" i="0">
                <a:solidFill>
                  <a:srgbClr val="5C3D1E"/>
                </a:solidFill>
                <a:latin typeface="Calibri"/>
              </a:rPr>
              <a:t>Edge compatibility</a:t>
            </a:r>
          </a:p>
        </p:txBody>
      </p:sp>
      <p:sp>
        <p:nvSpPr>
          <p:cNvPr id="28" name="TextBox 27"/>
          <p:cNvSpPr txBox="1"/>
          <p:nvPr/>
        </p:nvSpPr>
        <p:spPr>
          <a:xfrm>
            <a:off x="3246120" y="3630167"/>
            <a:ext cx="5303520" cy="347472"/>
          </a:xfrm>
          <a:prstGeom prst="rect">
            <a:avLst/>
          </a:prstGeom>
          <a:noFill/>
        </p:spPr>
        <p:txBody>
          <a:bodyPr wrap="square">
            <a:spAutoFit/>
          </a:bodyPr>
          <a:lstStyle/>
          <a:p>
            <a:pPr algn="l"/>
            <a:r>
              <a:rPr sz="1200" b="0" i="0">
                <a:solidFill>
                  <a:srgbClr val="5C3D1E"/>
                </a:solidFill>
                <a:latin typeface="Calibri"/>
              </a:rPr>
              <a:t>Curvature cross-correlation via FFT + Fourier descriptors</a:t>
            </a:r>
          </a:p>
        </p:txBody>
      </p:sp>
      <p:sp>
        <p:nvSpPr>
          <p:cNvPr id="29" name="TextBox 28"/>
          <p:cNvSpPr txBox="1"/>
          <p:nvPr/>
        </p:nvSpPr>
        <p:spPr>
          <a:xfrm>
            <a:off x="8595360" y="3630167"/>
            <a:ext cx="3200400" cy="347472"/>
          </a:xfrm>
          <a:prstGeom prst="rect">
            <a:avLst/>
          </a:prstGeom>
          <a:noFill/>
        </p:spPr>
        <p:txBody>
          <a:bodyPr wrap="square">
            <a:spAutoFit/>
          </a:bodyPr>
          <a:lstStyle/>
          <a:p>
            <a:pPr algn="l"/>
            <a:r>
              <a:rPr sz="1200" b="1" i="0">
                <a:solidFill>
                  <a:srgbClr val="B85042"/>
                </a:solidFill>
                <a:latin typeface="Calibri"/>
              </a:rPr>
              <a:t>Lect. 23 + 72</a:t>
            </a:r>
          </a:p>
        </p:txBody>
      </p:sp>
      <p:sp>
        <p:nvSpPr>
          <p:cNvPr id="30" name="Rectangle 29"/>
          <p:cNvSpPr/>
          <p:nvPr/>
        </p:nvSpPr>
        <p:spPr>
          <a:xfrm>
            <a:off x="274320" y="4023359"/>
            <a:ext cx="11640312" cy="411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472" y="4059935"/>
            <a:ext cx="2834640" cy="347472"/>
          </a:xfrm>
          <a:prstGeom prst="rect">
            <a:avLst/>
          </a:prstGeom>
          <a:noFill/>
        </p:spPr>
        <p:txBody>
          <a:bodyPr wrap="square">
            <a:spAutoFit/>
          </a:bodyPr>
          <a:lstStyle/>
          <a:p>
            <a:pPr algn="l"/>
            <a:r>
              <a:rPr sz="1200" b="1" i="0">
                <a:solidFill>
                  <a:srgbClr val="5C3D1E"/>
                </a:solidFill>
                <a:latin typeface="Calibri"/>
              </a:rPr>
              <a:t>Grouping constraint</a:t>
            </a:r>
          </a:p>
        </p:txBody>
      </p:sp>
      <p:sp>
        <p:nvSpPr>
          <p:cNvPr id="32" name="TextBox 31"/>
          <p:cNvSpPr txBox="1"/>
          <p:nvPr/>
        </p:nvSpPr>
        <p:spPr>
          <a:xfrm>
            <a:off x="3246120" y="4059935"/>
            <a:ext cx="5303520" cy="347472"/>
          </a:xfrm>
          <a:prstGeom prst="rect">
            <a:avLst/>
          </a:prstGeom>
          <a:noFill/>
        </p:spPr>
        <p:txBody>
          <a:bodyPr wrap="square">
            <a:spAutoFit/>
          </a:bodyPr>
          <a:lstStyle/>
          <a:p>
            <a:pPr algn="l"/>
            <a:r>
              <a:rPr sz="1200" b="0" i="0">
                <a:solidFill>
                  <a:srgbClr val="5C3D1E"/>
                </a:solidFill>
                <a:latin typeface="Calibri"/>
              </a:rPr>
              <a:t>Gestalt good continuation bonus at join points</a:t>
            </a:r>
          </a:p>
        </p:txBody>
      </p:sp>
      <p:sp>
        <p:nvSpPr>
          <p:cNvPr id="33" name="TextBox 32"/>
          <p:cNvSpPr txBox="1"/>
          <p:nvPr/>
        </p:nvSpPr>
        <p:spPr>
          <a:xfrm>
            <a:off x="8595360" y="4059935"/>
            <a:ext cx="3200400" cy="347472"/>
          </a:xfrm>
          <a:prstGeom prst="rect">
            <a:avLst/>
          </a:prstGeom>
          <a:noFill/>
        </p:spPr>
        <p:txBody>
          <a:bodyPr wrap="square">
            <a:spAutoFit/>
          </a:bodyPr>
          <a:lstStyle/>
          <a:p>
            <a:pPr algn="l"/>
            <a:r>
              <a:rPr sz="1200" b="1" i="0">
                <a:solidFill>
                  <a:srgbClr val="B85042"/>
                </a:solidFill>
                <a:latin typeface="Calibri"/>
              </a:rPr>
              <a:t>Lecture 52</a:t>
            </a:r>
          </a:p>
        </p:txBody>
      </p:sp>
      <p:sp>
        <p:nvSpPr>
          <p:cNvPr id="34" name="Rectangle 33"/>
          <p:cNvSpPr/>
          <p:nvPr/>
        </p:nvSpPr>
        <p:spPr>
          <a:xfrm>
            <a:off x="274320" y="4453127"/>
            <a:ext cx="11640312" cy="41148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472" y="4489703"/>
            <a:ext cx="2834640" cy="347472"/>
          </a:xfrm>
          <a:prstGeom prst="rect">
            <a:avLst/>
          </a:prstGeom>
          <a:noFill/>
        </p:spPr>
        <p:txBody>
          <a:bodyPr wrap="square">
            <a:spAutoFit/>
          </a:bodyPr>
          <a:lstStyle/>
          <a:p>
            <a:pPr algn="l"/>
            <a:r>
              <a:rPr sz="1200" b="1" i="0">
                <a:solidFill>
                  <a:srgbClr val="5C3D1E"/>
                </a:solidFill>
                <a:latin typeface="Calibri"/>
              </a:rPr>
              <a:t>Color consistency</a:t>
            </a:r>
          </a:p>
        </p:txBody>
      </p:sp>
      <p:sp>
        <p:nvSpPr>
          <p:cNvPr id="36" name="TextBox 35"/>
          <p:cNvSpPr txBox="1"/>
          <p:nvPr/>
        </p:nvSpPr>
        <p:spPr>
          <a:xfrm>
            <a:off x="3246120" y="4489703"/>
            <a:ext cx="5303520" cy="347472"/>
          </a:xfrm>
          <a:prstGeom prst="rect">
            <a:avLst/>
          </a:prstGeom>
          <a:noFill/>
        </p:spPr>
        <p:txBody>
          <a:bodyPr wrap="square">
            <a:spAutoFit/>
          </a:bodyPr>
          <a:lstStyle/>
          <a:p>
            <a:pPr algn="l"/>
            <a:r>
              <a:rPr sz="1200" b="0" i="0">
                <a:solidFill>
                  <a:srgbClr val="5C3D1E"/>
                </a:solidFill>
                <a:latin typeface="Calibri"/>
              </a:rPr>
              <a:t>Bhattacharyya HSV histogram distance</a:t>
            </a:r>
          </a:p>
        </p:txBody>
      </p:sp>
      <p:sp>
        <p:nvSpPr>
          <p:cNvPr id="37" name="TextBox 36"/>
          <p:cNvSpPr txBox="1"/>
          <p:nvPr/>
        </p:nvSpPr>
        <p:spPr>
          <a:xfrm>
            <a:off x="8595360" y="4489703"/>
            <a:ext cx="3200400" cy="347472"/>
          </a:xfrm>
          <a:prstGeom prst="rect">
            <a:avLst/>
          </a:prstGeom>
          <a:noFill/>
        </p:spPr>
        <p:txBody>
          <a:bodyPr wrap="square">
            <a:spAutoFit/>
          </a:bodyPr>
          <a:lstStyle/>
          <a:p>
            <a:pPr algn="l"/>
            <a:r>
              <a:rPr sz="1200" b="1" i="0">
                <a:solidFill>
                  <a:srgbClr val="B85042"/>
                </a:solidFill>
                <a:latin typeface="Calibri"/>
              </a:rPr>
              <a:t>Lecture 71</a:t>
            </a:r>
          </a:p>
        </p:txBody>
      </p:sp>
      <p:sp>
        <p:nvSpPr>
          <p:cNvPr id="38" name="Rectangle 37"/>
          <p:cNvSpPr/>
          <p:nvPr/>
        </p:nvSpPr>
        <p:spPr>
          <a:xfrm>
            <a:off x="274320" y="4882895"/>
            <a:ext cx="11640312" cy="411480"/>
          </a:xfrm>
          <a:prstGeom prst="rect">
            <a:avLst/>
          </a:prstGeom>
          <a:solidFill>
            <a:srgbClr val="F0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472" y="4919471"/>
            <a:ext cx="2834640" cy="347472"/>
          </a:xfrm>
          <a:prstGeom prst="rect">
            <a:avLst/>
          </a:prstGeom>
          <a:noFill/>
        </p:spPr>
        <p:txBody>
          <a:bodyPr wrap="square">
            <a:spAutoFit/>
          </a:bodyPr>
          <a:lstStyle/>
          <a:p>
            <a:pPr algn="l"/>
            <a:r>
              <a:rPr sz="1200" b="1" i="0">
                <a:solidFill>
                  <a:srgbClr val="5C3D1E"/>
                </a:solidFill>
                <a:latin typeface="Calibri"/>
              </a:rPr>
              <a:t>Assembly search</a:t>
            </a:r>
          </a:p>
        </p:txBody>
      </p:sp>
      <p:sp>
        <p:nvSpPr>
          <p:cNvPr id="40" name="TextBox 39"/>
          <p:cNvSpPr txBox="1"/>
          <p:nvPr/>
        </p:nvSpPr>
        <p:spPr>
          <a:xfrm>
            <a:off x="3246120" y="4919471"/>
            <a:ext cx="5303520" cy="347472"/>
          </a:xfrm>
          <a:prstGeom prst="rect">
            <a:avLst/>
          </a:prstGeom>
          <a:noFill/>
        </p:spPr>
        <p:txBody>
          <a:bodyPr wrap="square">
            <a:spAutoFit/>
          </a:bodyPr>
          <a:lstStyle/>
          <a:p>
            <a:pPr algn="l"/>
            <a:r>
              <a:rPr sz="1200" b="0" i="0">
                <a:solidFill>
                  <a:srgbClr val="5C3D1E"/>
                </a:solidFill>
                <a:latin typeface="Calibri"/>
              </a:rPr>
              <a:t>Relaxation labeling — iterative belief update</a:t>
            </a:r>
          </a:p>
        </p:txBody>
      </p:sp>
      <p:sp>
        <p:nvSpPr>
          <p:cNvPr id="41" name="TextBox 40"/>
          <p:cNvSpPr txBox="1"/>
          <p:nvPr/>
        </p:nvSpPr>
        <p:spPr>
          <a:xfrm>
            <a:off x="8595360" y="4919471"/>
            <a:ext cx="3200400" cy="347472"/>
          </a:xfrm>
          <a:prstGeom prst="rect">
            <a:avLst/>
          </a:prstGeom>
          <a:noFill/>
        </p:spPr>
        <p:txBody>
          <a:bodyPr wrap="square">
            <a:spAutoFit/>
          </a:bodyPr>
          <a:lstStyle/>
          <a:p>
            <a:pPr algn="l"/>
            <a:r>
              <a:rPr sz="1200" b="1" i="0">
                <a:solidFill>
                  <a:srgbClr val="B85042"/>
                </a:solidFill>
                <a:latin typeface="Calibri"/>
              </a:rPr>
              <a:t>Lecture 53</a:t>
            </a:r>
          </a:p>
        </p:txBody>
      </p:sp>
      <p:sp>
        <p:nvSpPr>
          <p:cNvPr id="42" name="Rectangle 41"/>
          <p:cNvSpPr/>
          <p:nvPr/>
        </p:nvSpPr>
        <p:spPr>
          <a:xfrm>
            <a:off x="274320" y="5312663"/>
            <a:ext cx="11640312" cy="41148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7472" y="5349239"/>
            <a:ext cx="2834640" cy="347472"/>
          </a:xfrm>
          <a:prstGeom prst="rect">
            <a:avLst/>
          </a:prstGeom>
          <a:noFill/>
        </p:spPr>
        <p:txBody>
          <a:bodyPr wrap="square">
            <a:spAutoFit/>
          </a:bodyPr>
          <a:lstStyle/>
          <a:p>
            <a:pPr algn="l"/>
            <a:r>
              <a:rPr sz="1200" b="1" i="0">
                <a:solidFill>
                  <a:srgbClr val="5C3D1E"/>
                </a:solidFill>
                <a:latin typeface="Calibri"/>
              </a:rPr>
              <a:t>Hypothesis pruning</a:t>
            </a:r>
          </a:p>
        </p:txBody>
      </p:sp>
      <p:sp>
        <p:nvSpPr>
          <p:cNvPr id="44" name="TextBox 43"/>
          <p:cNvSpPr txBox="1"/>
          <p:nvPr/>
        </p:nvSpPr>
        <p:spPr>
          <a:xfrm>
            <a:off x="3246120" y="5349239"/>
            <a:ext cx="5303520" cy="347472"/>
          </a:xfrm>
          <a:prstGeom prst="rect">
            <a:avLst/>
          </a:prstGeom>
          <a:noFill/>
        </p:spPr>
        <p:txBody>
          <a:bodyPr wrap="square">
            <a:spAutoFit/>
          </a:bodyPr>
          <a:lstStyle/>
          <a:p>
            <a:pPr algn="l"/>
            <a:r>
              <a:rPr sz="1200" b="0" i="0">
                <a:solidFill>
                  <a:srgbClr val="5C3D1E"/>
                </a:solidFill>
                <a:latin typeface="Calibri"/>
              </a:rPr>
              <a:t>Confidence threshold + interpretation-tree framing</a:t>
            </a:r>
          </a:p>
        </p:txBody>
      </p:sp>
      <p:sp>
        <p:nvSpPr>
          <p:cNvPr id="45" name="TextBox 44"/>
          <p:cNvSpPr txBox="1"/>
          <p:nvPr/>
        </p:nvSpPr>
        <p:spPr>
          <a:xfrm>
            <a:off x="8595360" y="5349239"/>
            <a:ext cx="3200400" cy="347472"/>
          </a:xfrm>
          <a:prstGeom prst="rect">
            <a:avLst/>
          </a:prstGeom>
          <a:noFill/>
        </p:spPr>
        <p:txBody>
          <a:bodyPr wrap="square">
            <a:spAutoFit/>
          </a:bodyPr>
          <a:lstStyle/>
          <a:p>
            <a:pPr algn="l"/>
            <a:r>
              <a:rPr sz="1200" b="1" i="0">
                <a:solidFill>
                  <a:srgbClr val="B85042"/>
                </a:solidFill>
                <a:latin typeface="Calibri"/>
              </a:rPr>
              <a:t>Lecture 73</a:t>
            </a:r>
          </a:p>
        </p:txBody>
      </p:sp>
      <p:sp>
        <p:nvSpPr>
          <p:cNvPr id="46" name="Rectangle 45"/>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Additional Tools &amp; Techniques</a:t>
            </a:r>
          </a:p>
        </p:txBody>
      </p:sp>
      <p:sp>
        <p:nvSpPr>
          <p:cNvPr id="5" name="TextBox 4"/>
          <p:cNvSpPr txBox="1"/>
          <p:nvPr/>
        </p:nvSpPr>
        <p:spPr>
          <a:xfrm>
            <a:off x="365760" y="914400"/>
            <a:ext cx="11430000" cy="457200"/>
          </a:xfrm>
          <a:prstGeom prst="rect">
            <a:avLst/>
          </a:prstGeom>
          <a:noFill/>
        </p:spPr>
        <p:txBody>
          <a:bodyPr wrap="square">
            <a:spAutoFit/>
          </a:bodyPr>
          <a:lstStyle/>
          <a:p>
            <a:pPr algn="l"/>
            <a:r>
              <a:rPr sz="1500" b="0" i="0">
                <a:solidFill>
                  <a:srgbClr val="5C3D1E"/>
                </a:solidFill>
                <a:latin typeface="Calibri"/>
              </a:rPr>
              <a:t>Beyond the core course algorithms, we used several additional techniques to make the system practical:</a:t>
            </a:r>
          </a:p>
        </p:txBody>
      </p:sp>
      <p:sp>
        <p:nvSpPr>
          <p:cNvPr id="6" name="Rectangle 5"/>
          <p:cNvSpPr/>
          <p:nvPr/>
        </p:nvSpPr>
        <p:spPr>
          <a:xfrm>
            <a:off x="320040" y="1417320"/>
            <a:ext cx="5760720" cy="2377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417320"/>
            <a:ext cx="5760720" cy="4572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72184"/>
            <a:ext cx="4114800" cy="365760"/>
          </a:xfrm>
          <a:prstGeom prst="rect">
            <a:avLst/>
          </a:prstGeom>
          <a:noFill/>
        </p:spPr>
        <p:txBody>
          <a:bodyPr wrap="square">
            <a:spAutoFit/>
          </a:bodyPr>
          <a:lstStyle/>
          <a:p>
            <a:pPr algn="l"/>
            <a:r>
              <a:rPr sz="1500" b="1" i="0">
                <a:solidFill>
                  <a:srgbClr val="FAF7F2"/>
                </a:solidFill>
                <a:latin typeface="Calibri"/>
              </a:rPr>
              <a:t>Voronoi Tessellation + Gaussian Noise</a:t>
            </a:r>
          </a:p>
        </p:txBody>
      </p:sp>
      <p:sp>
        <p:nvSpPr>
          <p:cNvPr id="9" name="Rectangle 8"/>
          <p:cNvSpPr/>
          <p:nvPr/>
        </p:nvSpPr>
        <p:spPr>
          <a:xfrm>
            <a:off x="4480559" y="1490472"/>
            <a:ext cx="1463040" cy="310896"/>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508760"/>
            <a:ext cx="1371600" cy="274320"/>
          </a:xfrm>
          <a:prstGeom prst="rect">
            <a:avLst/>
          </a:prstGeom>
          <a:noFill/>
        </p:spPr>
        <p:txBody>
          <a:bodyPr wrap="square">
            <a:spAutoFit/>
          </a:bodyPr>
          <a:lstStyle/>
          <a:p>
            <a:pPr algn="ctr"/>
            <a:r>
              <a:rPr sz="1000" b="1" i="0">
                <a:solidFill>
                  <a:srgbClr val="FAF7F2"/>
                </a:solidFill>
                <a:latin typeface="Calibri"/>
              </a:rPr>
              <a:t>Data Generation</a:t>
            </a:r>
          </a:p>
        </p:txBody>
      </p:sp>
      <p:sp>
        <p:nvSpPr>
          <p:cNvPr id="11" name="TextBox 10"/>
          <p:cNvSpPr txBox="1"/>
          <p:nvPr/>
        </p:nvSpPr>
        <p:spPr>
          <a:xfrm>
            <a:off x="457200" y="1984248"/>
            <a:ext cx="5486400" cy="1691640"/>
          </a:xfrm>
          <a:prstGeom prst="rect">
            <a:avLst/>
          </a:prstGeom>
          <a:noFill/>
        </p:spPr>
        <p:txBody>
          <a:bodyPr wrap="square">
            <a:spAutoFit/>
          </a:bodyPr>
          <a:lstStyle/>
          <a:p>
            <a:pPr algn="l"/>
            <a:r>
              <a:rPr sz="1300" b="0" i="0">
                <a:solidFill>
                  <a:srgbClr val="5C3D1E"/>
                </a:solidFill>
                <a:latin typeface="Calibri"/>
              </a:rPr>
              <a:t>Partitions source images into fragments with realistic fracture-like boundaries. Each Voronoi cell boundary is displaced by Gaussian noise to produce jagged, irregular fractures rather than straight lines — mimicking real-world breaks.</a:t>
            </a:r>
          </a:p>
        </p:txBody>
      </p:sp>
      <p:sp>
        <p:nvSpPr>
          <p:cNvPr id="12" name="Rectangle 11"/>
          <p:cNvSpPr/>
          <p:nvPr/>
        </p:nvSpPr>
        <p:spPr>
          <a:xfrm>
            <a:off x="6172200" y="1417320"/>
            <a:ext cx="5760720" cy="2377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417320"/>
            <a:ext cx="5760720" cy="4572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472184"/>
            <a:ext cx="4114800" cy="365760"/>
          </a:xfrm>
          <a:prstGeom prst="rect">
            <a:avLst/>
          </a:prstGeom>
          <a:noFill/>
        </p:spPr>
        <p:txBody>
          <a:bodyPr wrap="square">
            <a:spAutoFit/>
          </a:bodyPr>
          <a:lstStyle/>
          <a:p>
            <a:pPr algn="l"/>
            <a:r>
              <a:rPr sz="1500" b="1" i="0">
                <a:solidFill>
                  <a:srgbClr val="FAF7F2"/>
                </a:solidFill>
                <a:latin typeface="Calibri"/>
              </a:rPr>
              <a:t>FFT Cross-Correlation</a:t>
            </a:r>
          </a:p>
        </p:txBody>
      </p:sp>
      <p:sp>
        <p:nvSpPr>
          <p:cNvPr id="15" name="Rectangle 14"/>
          <p:cNvSpPr/>
          <p:nvPr/>
        </p:nvSpPr>
        <p:spPr>
          <a:xfrm>
            <a:off x="10332720" y="1490472"/>
            <a:ext cx="1463040" cy="310896"/>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78440" y="1508760"/>
            <a:ext cx="1371600" cy="274320"/>
          </a:xfrm>
          <a:prstGeom prst="rect">
            <a:avLst/>
          </a:prstGeom>
          <a:noFill/>
        </p:spPr>
        <p:txBody>
          <a:bodyPr wrap="square">
            <a:spAutoFit/>
          </a:bodyPr>
          <a:lstStyle/>
          <a:p>
            <a:pPr algn="ctr"/>
            <a:r>
              <a:rPr sz="1000" b="1" i="0">
                <a:solidFill>
                  <a:srgbClr val="FAF7F2"/>
                </a:solidFill>
                <a:latin typeface="Calibri"/>
              </a:rPr>
              <a:t>Speed &amp; Matching</a:t>
            </a:r>
          </a:p>
        </p:txBody>
      </p:sp>
      <p:sp>
        <p:nvSpPr>
          <p:cNvPr id="17" name="TextBox 16"/>
          <p:cNvSpPr txBox="1"/>
          <p:nvPr/>
        </p:nvSpPr>
        <p:spPr>
          <a:xfrm>
            <a:off x="6309360" y="1984248"/>
            <a:ext cx="5486400" cy="1691640"/>
          </a:xfrm>
          <a:prstGeom prst="rect">
            <a:avLst/>
          </a:prstGeom>
          <a:noFill/>
        </p:spPr>
        <p:txBody>
          <a:bodyPr wrap="square">
            <a:spAutoFit/>
          </a:bodyPr>
          <a:lstStyle/>
          <a:p>
            <a:pPr algn="l"/>
            <a:r>
              <a:rPr sz="1300" b="0" i="0">
                <a:solidFill>
                  <a:srgbClr val="5C3D1E"/>
                </a:solidFill>
                <a:latin typeface="Calibri"/>
              </a:rPr>
              <a:t>Efficient O(N log N) curvature profile comparison instead of O(N²) direct sliding-window matching. At the core of edge compatibility: the curvature of a broken edge should be the mirror-reverse of its partner — FFT cross-correlation finds the best alignment in one pass.</a:t>
            </a:r>
          </a:p>
        </p:txBody>
      </p:sp>
      <p:sp>
        <p:nvSpPr>
          <p:cNvPr id="18" name="Rectangle 17"/>
          <p:cNvSpPr/>
          <p:nvPr/>
        </p:nvSpPr>
        <p:spPr>
          <a:xfrm>
            <a:off x="320040" y="3931920"/>
            <a:ext cx="5760720" cy="2377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931920"/>
            <a:ext cx="5760720" cy="4572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986783"/>
            <a:ext cx="4114800" cy="365760"/>
          </a:xfrm>
          <a:prstGeom prst="rect">
            <a:avLst/>
          </a:prstGeom>
          <a:noFill/>
        </p:spPr>
        <p:txBody>
          <a:bodyPr wrap="square">
            <a:spAutoFit/>
          </a:bodyPr>
          <a:lstStyle/>
          <a:p>
            <a:pPr algn="l"/>
            <a:r>
              <a:rPr sz="1500" b="1" i="0">
                <a:solidFill>
                  <a:srgbClr val="FAF7F2"/>
                </a:solidFill>
                <a:latin typeface="Calibri"/>
              </a:rPr>
              <a:t>Bhattacharyya Coefficient + Bimodal Detection</a:t>
            </a:r>
          </a:p>
        </p:txBody>
      </p:sp>
      <p:sp>
        <p:nvSpPr>
          <p:cNvPr id="21" name="Rectangle 20"/>
          <p:cNvSpPr/>
          <p:nvPr/>
        </p:nvSpPr>
        <p:spPr>
          <a:xfrm>
            <a:off x="4480559" y="4005072"/>
            <a:ext cx="1463040" cy="310896"/>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79" y="4023359"/>
            <a:ext cx="1371600" cy="274320"/>
          </a:xfrm>
          <a:prstGeom prst="rect">
            <a:avLst/>
          </a:prstGeom>
          <a:noFill/>
        </p:spPr>
        <p:txBody>
          <a:bodyPr wrap="square">
            <a:spAutoFit/>
          </a:bodyPr>
          <a:lstStyle/>
          <a:p>
            <a:pPr algn="ctr"/>
            <a:r>
              <a:rPr sz="1000" b="1" i="0">
                <a:solidFill>
                  <a:srgbClr val="FAF7F2"/>
                </a:solidFill>
                <a:latin typeface="Calibri"/>
              </a:rPr>
              <a:t>Color Pre-Check</a:t>
            </a:r>
          </a:p>
        </p:txBody>
      </p:sp>
      <p:sp>
        <p:nvSpPr>
          <p:cNvPr id="23" name="TextBox 22"/>
          <p:cNvSpPr txBox="1"/>
          <p:nvPr/>
        </p:nvSpPr>
        <p:spPr>
          <a:xfrm>
            <a:off x="457200" y="4498848"/>
            <a:ext cx="5486400" cy="1691640"/>
          </a:xfrm>
          <a:prstGeom prst="rect">
            <a:avLst/>
          </a:prstGeom>
          <a:noFill/>
        </p:spPr>
        <p:txBody>
          <a:bodyPr wrap="square">
            <a:spAutoFit/>
          </a:bodyPr>
          <a:lstStyle/>
          <a:p>
            <a:pPr algn="l"/>
            <a:r>
              <a:rPr sz="1300" b="0" i="0">
                <a:solidFill>
                  <a:srgbClr val="5C3D1E"/>
                </a:solidFill>
                <a:latin typeface="Calibri"/>
              </a:rPr>
              <a:t>A symmetric similarity measure for comparing HSV color histograms. We build an N×N pairwise matrix, sort all values, and look for a large gap — a clear bimodal distribution signals that two distinct source images are present, triggering immediate rejection before the slow geometric pipeline runs.</a:t>
            </a:r>
          </a:p>
        </p:txBody>
      </p:sp>
      <p:sp>
        <p:nvSpPr>
          <p:cNvPr id="24" name="Rectangle 23"/>
          <p:cNvSpPr/>
          <p:nvPr/>
        </p:nvSpPr>
        <p:spPr>
          <a:xfrm>
            <a:off x="6172200" y="3931920"/>
            <a:ext cx="5760720" cy="2377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931920"/>
            <a:ext cx="5760720" cy="457200"/>
          </a:xfrm>
          <a:prstGeom prst="rect">
            <a:avLst/>
          </a:prstGeom>
          <a:solidFill>
            <a:srgbClr val="5C3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986783"/>
            <a:ext cx="4114800" cy="365760"/>
          </a:xfrm>
          <a:prstGeom prst="rect">
            <a:avLst/>
          </a:prstGeom>
          <a:noFill/>
        </p:spPr>
        <p:txBody>
          <a:bodyPr wrap="square">
            <a:spAutoFit/>
          </a:bodyPr>
          <a:lstStyle/>
          <a:p>
            <a:pPr algn="l"/>
            <a:r>
              <a:rPr sz="1500" b="1" i="0">
                <a:solidFill>
                  <a:srgbClr val="FAF7F2"/>
                </a:solidFill>
                <a:latin typeface="Calibri"/>
              </a:rPr>
              <a:t>Morphological Erosion (Damage Simulation)</a:t>
            </a:r>
          </a:p>
        </p:txBody>
      </p:sp>
      <p:sp>
        <p:nvSpPr>
          <p:cNvPr id="27" name="Rectangle 26"/>
          <p:cNvSpPr/>
          <p:nvPr/>
        </p:nvSpPr>
        <p:spPr>
          <a:xfrm>
            <a:off x="10332720" y="4005072"/>
            <a:ext cx="1463040" cy="310896"/>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78440" y="4023359"/>
            <a:ext cx="1371600" cy="274320"/>
          </a:xfrm>
          <a:prstGeom prst="rect">
            <a:avLst/>
          </a:prstGeom>
          <a:noFill/>
        </p:spPr>
        <p:txBody>
          <a:bodyPr wrap="square">
            <a:spAutoFit/>
          </a:bodyPr>
          <a:lstStyle/>
          <a:p>
            <a:pPr algn="ctr"/>
            <a:r>
              <a:rPr sz="1000" b="1" i="0">
                <a:solidFill>
                  <a:srgbClr val="FAF7F2"/>
                </a:solidFill>
                <a:latin typeface="Calibri"/>
              </a:rPr>
              <a:t>Simulation</a:t>
            </a:r>
          </a:p>
        </p:txBody>
      </p:sp>
      <p:sp>
        <p:nvSpPr>
          <p:cNvPr id="29" name="TextBox 28"/>
          <p:cNvSpPr txBox="1"/>
          <p:nvPr/>
        </p:nvSpPr>
        <p:spPr>
          <a:xfrm>
            <a:off x="6309360" y="4498848"/>
            <a:ext cx="5486400" cy="1691640"/>
          </a:xfrm>
          <a:prstGeom prst="rect">
            <a:avLst/>
          </a:prstGeom>
          <a:noFill/>
        </p:spPr>
        <p:txBody>
          <a:bodyPr wrap="square">
            <a:spAutoFit/>
          </a:bodyPr>
          <a:lstStyle/>
          <a:p>
            <a:pPr algn="l"/>
            <a:r>
              <a:rPr sz="1300" b="0" i="0">
                <a:solidFill>
                  <a:srgbClr val="5C3D1E"/>
                </a:solidFill>
                <a:latin typeface="Calibri"/>
              </a:rPr>
              <a:t>Applied to fragment masks using random elliptical structuring elements placed at random positions and angles inside each fragment. Simulates the weathering and wear that real archaeological fragments accumulate over centuries. Also erodes outer boundary pixels to roughen edges.</a:t>
            </a:r>
          </a:p>
        </p:txBody>
      </p:sp>
      <p:sp>
        <p:nvSpPr>
          <p:cNvPr id="30" name="Rectangle 29"/>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772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11521440" cy="630936"/>
          </a:xfrm>
          <a:prstGeom prst="rect">
            <a:avLst/>
          </a:prstGeom>
          <a:noFill/>
        </p:spPr>
        <p:txBody>
          <a:bodyPr wrap="square">
            <a:spAutoFit/>
          </a:bodyPr>
          <a:lstStyle/>
          <a:p>
            <a:pPr algn="l"/>
            <a:r>
              <a:rPr sz="3000" b="1" i="0">
                <a:solidFill>
                  <a:srgbClr val="FAF7F2"/>
                </a:solidFill>
                <a:latin typeface="Calibri"/>
              </a:rPr>
              <a:t>Known Limitations</a:t>
            </a:r>
          </a:p>
        </p:txBody>
      </p:sp>
      <p:sp>
        <p:nvSpPr>
          <p:cNvPr id="5" name="Rectangle 4"/>
          <p:cNvSpPr/>
          <p:nvPr/>
        </p:nvSpPr>
        <p:spPr>
          <a:xfrm>
            <a:off x="320040" y="1005840"/>
            <a:ext cx="11430000" cy="1234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91440" cy="12344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78992"/>
            <a:ext cx="10881360" cy="365760"/>
          </a:xfrm>
          <a:prstGeom prst="rect">
            <a:avLst/>
          </a:prstGeom>
          <a:noFill/>
        </p:spPr>
        <p:txBody>
          <a:bodyPr wrap="square">
            <a:spAutoFit/>
          </a:bodyPr>
          <a:lstStyle/>
          <a:p>
            <a:pPr algn="l"/>
            <a:r>
              <a:rPr sz="1500" b="1" i="0">
                <a:solidFill>
                  <a:srgbClr val="5C3D1E"/>
                </a:solidFill>
                <a:latin typeface="Calibri"/>
              </a:rPr>
              <a:t>Same-color false positives</a:t>
            </a:r>
          </a:p>
        </p:txBody>
      </p:sp>
      <p:sp>
        <p:nvSpPr>
          <p:cNvPr id="8" name="TextBox 7"/>
          <p:cNvSpPr txBox="1"/>
          <p:nvPr/>
        </p:nvSpPr>
        <p:spPr>
          <a:xfrm>
            <a:off x="548640" y="1463040"/>
            <a:ext cx="10881360" cy="731520"/>
          </a:xfrm>
          <a:prstGeom prst="rect">
            <a:avLst/>
          </a:prstGeom>
          <a:noFill/>
        </p:spPr>
        <p:txBody>
          <a:bodyPr wrap="square">
            <a:spAutoFit/>
          </a:bodyPr>
          <a:lstStyle/>
          <a:p>
            <a:pPr algn="l"/>
            <a:r>
              <a:rPr sz="1300" b="0" i="0">
                <a:solidFill>
                  <a:srgbClr val="9E866E"/>
                </a:solidFill>
                <a:latin typeface="Calibri"/>
              </a:rPr>
              <a:t>The color pre-check cannot distinguish two artifacts made of the same material. Fragments from two brown clay pots look identical in HSV histogram space. A texture or gradient feature would help here.</a:t>
            </a:r>
          </a:p>
        </p:txBody>
      </p:sp>
      <p:sp>
        <p:nvSpPr>
          <p:cNvPr id="9" name="Rectangle 8"/>
          <p:cNvSpPr/>
          <p:nvPr/>
        </p:nvSpPr>
        <p:spPr>
          <a:xfrm>
            <a:off x="320040" y="2377440"/>
            <a:ext cx="11430000" cy="1234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2377440"/>
            <a:ext cx="91440" cy="12344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50592"/>
            <a:ext cx="10881360" cy="365760"/>
          </a:xfrm>
          <a:prstGeom prst="rect">
            <a:avLst/>
          </a:prstGeom>
          <a:noFill/>
        </p:spPr>
        <p:txBody>
          <a:bodyPr wrap="square">
            <a:spAutoFit/>
          </a:bodyPr>
          <a:lstStyle/>
          <a:p>
            <a:pPr algn="l"/>
            <a:r>
              <a:rPr sz="1500" b="1" i="0">
                <a:solidFill>
                  <a:srgbClr val="5C3D1E"/>
                </a:solidFill>
                <a:latin typeface="Calibri"/>
              </a:rPr>
              <a:t>Pre-segmented images only</a:t>
            </a:r>
          </a:p>
        </p:txBody>
      </p:sp>
      <p:sp>
        <p:nvSpPr>
          <p:cNvPr id="12" name="TextBox 11"/>
          <p:cNvSpPr txBox="1"/>
          <p:nvPr/>
        </p:nvSpPr>
        <p:spPr>
          <a:xfrm>
            <a:off x="548640" y="2834640"/>
            <a:ext cx="10881360" cy="731520"/>
          </a:xfrm>
          <a:prstGeom prst="rect">
            <a:avLst/>
          </a:prstGeom>
          <a:noFill/>
        </p:spPr>
        <p:txBody>
          <a:bodyPr wrap="square">
            <a:spAutoFit/>
          </a:bodyPr>
          <a:lstStyle/>
          <a:p>
            <a:pPr algn="l"/>
            <a:r>
              <a:rPr sz="1300" b="0" i="0">
                <a:solidFill>
                  <a:srgbClr val="9E866E"/>
                </a:solidFill>
                <a:latin typeface="Calibri"/>
              </a:rPr>
              <a:t>The system requires one fragment per image with a clean background. Raw excavation field photographs with complex backgrounds are not supported — a segmentation step would be needed first.</a:t>
            </a:r>
          </a:p>
        </p:txBody>
      </p:sp>
      <p:sp>
        <p:nvSpPr>
          <p:cNvPr id="13" name="Rectangle 12"/>
          <p:cNvSpPr/>
          <p:nvPr/>
        </p:nvSpPr>
        <p:spPr>
          <a:xfrm>
            <a:off x="320040" y="3749039"/>
            <a:ext cx="11430000" cy="1234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3749039"/>
            <a:ext cx="91440" cy="12344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822191"/>
            <a:ext cx="10881360" cy="365760"/>
          </a:xfrm>
          <a:prstGeom prst="rect">
            <a:avLst/>
          </a:prstGeom>
          <a:noFill/>
        </p:spPr>
        <p:txBody>
          <a:bodyPr wrap="square">
            <a:spAutoFit/>
          </a:bodyPr>
          <a:lstStyle/>
          <a:p>
            <a:pPr algn="l"/>
            <a:r>
              <a:rPr sz="1500" b="1" i="0">
                <a:solidFill>
                  <a:srgbClr val="5C3D1E"/>
                </a:solidFill>
                <a:latin typeface="Calibri"/>
              </a:rPr>
              <a:t>2D only — no depth or texture analysis</a:t>
            </a:r>
          </a:p>
        </p:txBody>
      </p:sp>
      <p:sp>
        <p:nvSpPr>
          <p:cNvPr id="16" name="TextBox 15"/>
          <p:cNvSpPr txBox="1"/>
          <p:nvPr/>
        </p:nvSpPr>
        <p:spPr>
          <a:xfrm>
            <a:off x="548640" y="4206240"/>
            <a:ext cx="10881360" cy="731520"/>
          </a:xfrm>
          <a:prstGeom prst="rect">
            <a:avLst/>
          </a:prstGeom>
          <a:noFill/>
        </p:spPr>
        <p:txBody>
          <a:bodyPr wrap="square">
            <a:spAutoFit/>
          </a:bodyPr>
          <a:lstStyle/>
          <a:p>
            <a:pPr algn="l"/>
            <a:r>
              <a:rPr sz="1300" b="0" i="0">
                <a:solidFill>
                  <a:srgbClr val="9E866E"/>
                </a:solidFill>
                <a:latin typeface="Calibri"/>
              </a:rPr>
              <a:t>3D surface scans would provide far stronger matching signals (fracture surface geometry). This is a 2D photograph-only pipeline.</a:t>
            </a:r>
          </a:p>
        </p:txBody>
      </p:sp>
      <p:sp>
        <p:nvSpPr>
          <p:cNvPr id="17" name="Rectangle 16"/>
          <p:cNvSpPr/>
          <p:nvPr/>
        </p:nvSpPr>
        <p:spPr>
          <a:xfrm>
            <a:off x="320040" y="5120640"/>
            <a:ext cx="11430000" cy="12344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5120640"/>
            <a:ext cx="91440" cy="12344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193792"/>
            <a:ext cx="10881360" cy="365760"/>
          </a:xfrm>
          <a:prstGeom prst="rect">
            <a:avLst/>
          </a:prstGeom>
          <a:noFill/>
        </p:spPr>
        <p:txBody>
          <a:bodyPr wrap="square">
            <a:spAutoFit/>
          </a:bodyPr>
          <a:lstStyle/>
          <a:p>
            <a:pPr algn="l"/>
            <a:r>
              <a:rPr sz="1500" b="1" i="0">
                <a:solidFill>
                  <a:srgbClr val="5C3D1E"/>
                </a:solidFill>
                <a:latin typeface="Calibri"/>
              </a:rPr>
              <a:t>Scale — designed for 5–15 fragments</a:t>
            </a:r>
          </a:p>
        </p:txBody>
      </p:sp>
      <p:sp>
        <p:nvSpPr>
          <p:cNvPr id="20" name="TextBox 19"/>
          <p:cNvSpPr txBox="1"/>
          <p:nvPr/>
        </p:nvSpPr>
        <p:spPr>
          <a:xfrm>
            <a:off x="548640" y="5577840"/>
            <a:ext cx="10881360" cy="731520"/>
          </a:xfrm>
          <a:prstGeom prst="rect">
            <a:avLst/>
          </a:prstGeom>
          <a:noFill/>
        </p:spPr>
        <p:txBody>
          <a:bodyPr wrap="square">
            <a:spAutoFit/>
          </a:bodyPr>
          <a:lstStyle/>
          <a:p>
            <a:pPr algn="l"/>
            <a:r>
              <a:rPr sz="1300" b="0" i="0">
                <a:solidFill>
                  <a:srgbClr val="9E866E"/>
                </a:solidFill>
                <a:latin typeface="Calibri"/>
              </a:rPr>
              <a:t>The pairwise scoring is O(N²) in the number of edge segments. Scaling to hundreds of fragments would require approximate nearest-neighbor indexing rather than exhaustive pairwise computation.</a:t>
            </a:r>
          </a:p>
        </p:txBody>
      </p:sp>
      <p:sp>
        <p:nvSpPr>
          <p:cNvPr id="21" name="Rectangle 20"/>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11612880" cy="320040"/>
          </a:xfrm>
          <a:prstGeom prst="rect">
            <a:avLst/>
          </a:prstGeom>
          <a:noFill/>
        </p:spPr>
        <p:txBody>
          <a:bodyPr wrap="square">
            <a:spAutoFit/>
          </a:bodyPr>
          <a:lstStyle/>
          <a:p>
            <a:pPr algn="l"/>
            <a:r>
              <a:rPr sz="1000" b="0" i="0">
                <a:solidFill>
                  <a:srgbClr val="FAF7F2"/>
                </a:solidFill>
                <a:latin typeface="Calibri"/>
              </a:rPr>
              <a:t>ICBV Final Project — Fragment Reconstruction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D1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92240"/>
            <a:ext cx="12188952" cy="365760"/>
          </a:xfrm>
          <a:prstGeom prst="rect">
            <a:avLst/>
          </a:prstGeom>
          <a:solidFill>
            <a:srgbClr val="6B2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74320"/>
            <a:ext cx="9144000" cy="822960"/>
          </a:xfrm>
          <a:prstGeom prst="rect">
            <a:avLst/>
          </a:prstGeom>
          <a:noFill/>
        </p:spPr>
        <p:txBody>
          <a:bodyPr wrap="square">
            <a:spAutoFit/>
          </a:bodyPr>
          <a:lstStyle/>
          <a:p>
            <a:pPr algn="l"/>
            <a:r>
              <a:rPr sz="4200" b="1" i="0">
                <a:solidFill>
                  <a:srgbClr val="B85042"/>
                </a:solidFill>
                <a:latin typeface="Calibri"/>
              </a:rPr>
              <a:t>Summary</a:t>
            </a:r>
          </a:p>
        </p:txBody>
      </p:sp>
      <p:sp>
        <p:nvSpPr>
          <p:cNvPr id="6" name="Rectangle 5"/>
          <p:cNvSpPr/>
          <p:nvPr/>
        </p:nvSpPr>
        <p:spPr>
          <a:xfrm>
            <a:off x="640080" y="1097280"/>
            <a:ext cx="4114800" cy="4572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35607"/>
            <a:ext cx="164592" cy="164592"/>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325880"/>
            <a:ext cx="7772400" cy="457200"/>
          </a:xfrm>
          <a:prstGeom prst="rect">
            <a:avLst/>
          </a:prstGeom>
          <a:noFill/>
        </p:spPr>
        <p:txBody>
          <a:bodyPr wrap="square">
            <a:spAutoFit/>
          </a:bodyPr>
          <a:lstStyle/>
          <a:p>
            <a:pPr algn="l"/>
            <a:r>
              <a:rPr sz="1500" b="0" i="0">
                <a:solidFill>
                  <a:srgbClr val="FAF7F2"/>
                </a:solidFill>
                <a:latin typeface="Calibri"/>
              </a:rPr>
              <a:t>We built a complete, working pipeline for 2D fragment assembly from photographs.</a:t>
            </a:r>
          </a:p>
        </p:txBody>
      </p:sp>
      <p:sp>
        <p:nvSpPr>
          <p:cNvPr id="9" name="Rectangle 8"/>
          <p:cNvSpPr/>
          <p:nvPr/>
        </p:nvSpPr>
        <p:spPr>
          <a:xfrm>
            <a:off x="640080" y="2002536"/>
            <a:ext cx="164592" cy="164592"/>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92807"/>
            <a:ext cx="7772400" cy="457200"/>
          </a:xfrm>
          <a:prstGeom prst="rect">
            <a:avLst/>
          </a:prstGeom>
          <a:noFill/>
        </p:spPr>
        <p:txBody>
          <a:bodyPr wrap="square">
            <a:spAutoFit/>
          </a:bodyPr>
          <a:lstStyle/>
          <a:p>
            <a:pPr algn="l"/>
            <a:r>
              <a:rPr sz="1500" b="0" i="0">
                <a:solidFill>
                  <a:srgbClr val="FAF7F2"/>
                </a:solidFill>
                <a:latin typeface="Calibri"/>
              </a:rPr>
              <a:t>Every stage maps to a concrete algorithm from the ICBV course.</a:t>
            </a:r>
          </a:p>
        </p:txBody>
      </p:sp>
      <p:sp>
        <p:nvSpPr>
          <p:cNvPr id="11" name="Rectangle 10"/>
          <p:cNvSpPr/>
          <p:nvPr/>
        </p:nvSpPr>
        <p:spPr>
          <a:xfrm>
            <a:off x="640080" y="2569464"/>
            <a:ext cx="164592" cy="164592"/>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459736"/>
            <a:ext cx="7772400" cy="457200"/>
          </a:xfrm>
          <a:prstGeom prst="rect">
            <a:avLst/>
          </a:prstGeom>
          <a:noFill/>
        </p:spPr>
        <p:txBody>
          <a:bodyPr wrap="square">
            <a:spAutoFit/>
          </a:bodyPr>
          <a:lstStyle/>
          <a:p>
            <a:pPr algn="l"/>
            <a:r>
              <a:rPr sz="1500" b="0" i="0">
                <a:solidFill>
                  <a:srgbClr val="FAF7F2"/>
                </a:solidFill>
                <a:latin typeface="Calibri"/>
              </a:rPr>
              <a:t>The system achieves 100% on positive test cases and 53% on negative cases.</a:t>
            </a:r>
          </a:p>
        </p:txBody>
      </p:sp>
      <p:sp>
        <p:nvSpPr>
          <p:cNvPr id="13" name="Rectangle 12"/>
          <p:cNvSpPr/>
          <p:nvPr/>
        </p:nvSpPr>
        <p:spPr>
          <a:xfrm>
            <a:off x="640080" y="3136392"/>
            <a:ext cx="164592" cy="164592"/>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026664"/>
            <a:ext cx="7772400" cy="457200"/>
          </a:xfrm>
          <a:prstGeom prst="rect">
            <a:avLst/>
          </a:prstGeom>
          <a:noFill/>
        </p:spPr>
        <p:txBody>
          <a:bodyPr wrap="square">
            <a:spAutoFit/>
          </a:bodyPr>
          <a:lstStyle/>
          <a:p>
            <a:pPr algn="l"/>
            <a:r>
              <a:rPr sz="1500" b="0" i="0">
                <a:solidFill>
                  <a:srgbClr val="FAF7F2"/>
                </a:solidFill>
                <a:latin typeface="Calibri"/>
              </a:rPr>
              <a:t>A fast color pre-check (0.2 s) catches mixed-source inputs before the 4 s geometric pipeline.</a:t>
            </a:r>
          </a:p>
        </p:txBody>
      </p:sp>
      <p:sp>
        <p:nvSpPr>
          <p:cNvPr id="15" name="Rectangle 14"/>
          <p:cNvSpPr/>
          <p:nvPr/>
        </p:nvSpPr>
        <p:spPr>
          <a:xfrm>
            <a:off x="640080" y="3703320"/>
            <a:ext cx="164592" cy="164592"/>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93592"/>
            <a:ext cx="7772400" cy="457200"/>
          </a:xfrm>
          <a:prstGeom prst="rect">
            <a:avLst/>
          </a:prstGeom>
          <a:noFill/>
        </p:spPr>
        <p:txBody>
          <a:bodyPr wrap="square">
            <a:spAutoFit/>
          </a:bodyPr>
          <a:lstStyle/>
          <a:p>
            <a:pPr algn="l"/>
            <a:r>
              <a:rPr sz="1500" b="0" i="0">
                <a:solidFill>
                  <a:srgbClr val="FAF7F2"/>
                </a:solidFill>
                <a:latin typeface="Calibri"/>
              </a:rPr>
              <a:t>Fragment generation with Voronoi + noise + erosion damage produces realistic test data.</a:t>
            </a:r>
          </a:p>
        </p:txBody>
      </p:sp>
      <p:sp>
        <p:nvSpPr>
          <p:cNvPr id="17" name="Rectangle 16"/>
          <p:cNvSpPr/>
          <p:nvPr/>
        </p:nvSpPr>
        <p:spPr>
          <a:xfrm>
            <a:off x="640080" y="4480560"/>
            <a:ext cx="10789920" cy="45720"/>
          </a:xfrm>
          <a:prstGeom prst="rect">
            <a:avLst/>
          </a:prstGeom>
          <a:solidFill>
            <a:srgbClr val="967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63440"/>
            <a:ext cx="3657600" cy="365760"/>
          </a:xfrm>
          <a:prstGeom prst="rect">
            <a:avLst/>
          </a:prstGeom>
          <a:noFill/>
        </p:spPr>
        <p:txBody>
          <a:bodyPr wrap="square">
            <a:spAutoFit/>
          </a:bodyPr>
          <a:lstStyle/>
          <a:p>
            <a:pPr algn="l"/>
            <a:r>
              <a:rPr sz="1600" b="1" i="0">
                <a:solidFill>
                  <a:srgbClr val="967222"/>
                </a:solidFill>
                <a:latin typeface="Calibri"/>
              </a:rPr>
              <a:t>Future directions:</a:t>
            </a:r>
          </a:p>
        </p:txBody>
      </p:sp>
      <p:sp>
        <p:nvSpPr>
          <p:cNvPr id="19" name="TextBox 18"/>
          <p:cNvSpPr txBox="1"/>
          <p:nvPr/>
        </p:nvSpPr>
        <p:spPr>
          <a:xfrm>
            <a:off x="822960" y="5074920"/>
            <a:ext cx="10515600" cy="384048"/>
          </a:xfrm>
          <a:prstGeom prst="rect">
            <a:avLst/>
          </a:prstGeom>
          <a:noFill/>
        </p:spPr>
        <p:txBody>
          <a:bodyPr wrap="square">
            <a:spAutoFit/>
          </a:bodyPr>
          <a:lstStyle/>
          <a:p>
            <a:pPr algn="l"/>
            <a:r>
              <a:rPr sz="1400" b="0" i="0">
                <a:solidFill>
                  <a:srgbClr val="9E866E"/>
                </a:solidFill>
                <a:latin typeface="Calibri"/>
              </a:rPr>
              <a:t>–  Add texture / gradient histogram features to improve negative discrimination.</a:t>
            </a:r>
          </a:p>
        </p:txBody>
      </p:sp>
      <p:sp>
        <p:nvSpPr>
          <p:cNvPr id="20" name="TextBox 19"/>
          <p:cNvSpPr txBox="1"/>
          <p:nvPr/>
        </p:nvSpPr>
        <p:spPr>
          <a:xfrm>
            <a:off x="822960" y="5513831"/>
            <a:ext cx="10515600" cy="384048"/>
          </a:xfrm>
          <a:prstGeom prst="rect">
            <a:avLst/>
          </a:prstGeom>
          <a:noFill/>
        </p:spPr>
        <p:txBody>
          <a:bodyPr wrap="square">
            <a:spAutoFit/>
          </a:bodyPr>
          <a:lstStyle/>
          <a:p>
            <a:pPr algn="l"/>
            <a:r>
              <a:rPr sz="1400" b="0" i="0">
                <a:solidFill>
                  <a:srgbClr val="9E866E"/>
                </a:solidFill>
                <a:latin typeface="Calibri"/>
              </a:rPr>
              <a:t>–  Extend to 3D surface scans for stronger geometric matching.</a:t>
            </a:r>
          </a:p>
        </p:txBody>
      </p:sp>
      <p:sp>
        <p:nvSpPr>
          <p:cNvPr id="21" name="TextBox 20"/>
          <p:cNvSpPr txBox="1"/>
          <p:nvPr/>
        </p:nvSpPr>
        <p:spPr>
          <a:xfrm>
            <a:off x="822960" y="5952744"/>
            <a:ext cx="10515600" cy="384048"/>
          </a:xfrm>
          <a:prstGeom prst="rect">
            <a:avLst/>
          </a:prstGeom>
          <a:noFill/>
        </p:spPr>
        <p:txBody>
          <a:bodyPr wrap="square">
            <a:spAutoFit/>
          </a:bodyPr>
          <a:lstStyle/>
          <a:p>
            <a:pPr algn="l"/>
            <a:r>
              <a:rPr sz="1400" b="0" i="0">
                <a:solidFill>
                  <a:srgbClr val="9E866E"/>
                </a:solidFill>
                <a:latin typeface="Calibri"/>
              </a:rPr>
              <a:t>–  Replace exhaustive scoring with ANN index for scalability.</a:t>
            </a:r>
          </a:p>
        </p:txBody>
      </p:sp>
      <p:sp>
        <p:nvSpPr>
          <p:cNvPr id="22" name="TextBox 21"/>
          <p:cNvSpPr txBox="1"/>
          <p:nvPr/>
        </p:nvSpPr>
        <p:spPr>
          <a:xfrm>
            <a:off x="640080" y="6400800"/>
            <a:ext cx="4572000" cy="384048"/>
          </a:xfrm>
          <a:prstGeom prst="rect">
            <a:avLst/>
          </a:prstGeom>
          <a:noFill/>
        </p:spPr>
        <p:txBody>
          <a:bodyPr wrap="square">
            <a:spAutoFit/>
          </a:bodyPr>
          <a:lstStyle/>
          <a:p>
            <a:pPr algn="l"/>
            <a:r>
              <a:rPr sz="1400" b="0" i="1">
                <a:solidFill>
                  <a:srgbClr val="9E866E"/>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